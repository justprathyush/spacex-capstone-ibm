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82" r:id="rId4"/>
  </p:sldMasterIdLst>
  <p:notesMasterIdLst>
    <p:notesMasterId r:id="rId51"/>
  </p:notesMasterIdLst>
  <p:handoutMasterIdLst>
    <p:handoutMasterId r:id="rId52"/>
  </p:handoutMasterIdLst>
  <p:sldIdLst>
    <p:sldId id="338" r:id="rId5"/>
    <p:sldId id="330" r:id="rId6"/>
    <p:sldId id="331" r:id="rId7"/>
    <p:sldId id="332" r:id="rId8"/>
    <p:sldId id="339" r:id="rId9"/>
    <p:sldId id="262" r:id="rId10"/>
    <p:sldId id="263" r:id="rId11"/>
    <p:sldId id="299" r:id="rId12"/>
    <p:sldId id="302" r:id="rId13"/>
    <p:sldId id="264" r:id="rId14"/>
    <p:sldId id="266" r:id="rId15"/>
    <p:sldId id="265" r:id="rId16"/>
    <p:sldId id="276" r:id="rId17"/>
    <p:sldId id="303" r:id="rId18"/>
    <p:sldId id="293" r:id="rId19"/>
    <p:sldId id="277" r:id="rId20"/>
    <p:sldId id="340" r:id="rId21"/>
    <p:sldId id="269" r:id="rId22"/>
    <p:sldId id="304" r:id="rId23"/>
    <p:sldId id="305" r:id="rId24"/>
    <p:sldId id="307" r:id="rId25"/>
    <p:sldId id="306" r:id="rId26"/>
    <p:sldId id="333" r:id="rId27"/>
    <p:sldId id="334" r:id="rId28"/>
    <p:sldId id="309" r:id="rId29"/>
    <p:sldId id="310" r:id="rId30"/>
    <p:sldId id="311" r:id="rId31"/>
    <p:sldId id="312" r:id="rId32"/>
    <p:sldId id="314" r:id="rId33"/>
    <p:sldId id="335" r:id="rId34"/>
    <p:sldId id="315" r:id="rId35"/>
    <p:sldId id="316" r:id="rId36"/>
    <p:sldId id="336" r:id="rId37"/>
    <p:sldId id="341" r:id="rId38"/>
    <p:sldId id="296" r:id="rId39"/>
    <p:sldId id="318" r:id="rId40"/>
    <p:sldId id="319" r:id="rId41"/>
    <p:sldId id="342" r:id="rId42"/>
    <p:sldId id="322" r:id="rId43"/>
    <p:sldId id="323" r:id="rId44"/>
    <p:sldId id="324" r:id="rId45"/>
    <p:sldId id="343" r:id="rId46"/>
    <p:sldId id="289" r:id="rId47"/>
    <p:sldId id="320" r:id="rId48"/>
    <p:sldId id="274" r:id="rId49"/>
    <p:sldId id="344" r:id="rId50"/>
  </p:sldIdLst>
  <p:sldSz cx="12192000" cy="6858000"/>
  <p:notesSz cx="6858000" cy="18573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ose Malcolm" initials="RM" lastIdx="1" clrIdx="0">
    <p:extLst>
      <p:ext uri="{19B8F6BF-5375-455C-9EA6-DF929625EA0E}">
        <p15:presenceInfo xmlns:p15="http://schemas.microsoft.com/office/powerpoint/2012/main" userId="Rose Malcolm" providerId="None"/>
      </p:ext>
    </p:extLst>
  </p:cmAuthor>
  <p:cmAuthor id="2" name="Rose Malcolm" initials="RM [2]" lastIdx="7" clrIdx="1">
    <p:extLst>
      <p:ext uri="{19B8F6BF-5375-455C-9EA6-DF929625EA0E}">
        <p15:presenceInfo xmlns:p15="http://schemas.microsoft.com/office/powerpoint/2012/main" userId="17c9fa32013483c0" providerId="Windows Live"/>
      </p:ext>
    </p:extLst>
  </p:cmAuthor>
  <p:cmAuthor id="3" name="Ramesh Sannareddy" initials="RS" lastIdx="7" clrIdx="2">
    <p:extLst>
      <p:ext uri="{19B8F6BF-5375-455C-9EA6-DF929625EA0E}">
        <p15:presenceInfo xmlns:p15="http://schemas.microsoft.com/office/powerpoint/2012/main" userId="YZ5PSXVD06EfD4/04RF+4IpszM4ZmL7FtUZDJf4jPLA=" providerId="None"/>
      </p:ext>
    </p:extLst>
  </p:cmAuthor>
  <p:cmAuthor id="4" name="UPKAR LIDDER" initials="UL" lastIdx="2" clrIdx="3"/>
  <p:cmAuthor id="5" name="Leon Katsnelson" initials="LK" lastIdx="21" clrIdx="4">
    <p:extLst>
      <p:ext uri="{19B8F6BF-5375-455C-9EA6-DF929625EA0E}">
        <p15:presenceInfo xmlns:p15="http://schemas.microsoft.com/office/powerpoint/2012/main" userId="S::leon@ca.ibm.com::68697268-d1ba-4c91-8538-7f4d439d4f70" providerId="AD"/>
      </p:ext>
    </p:extLst>
  </p:cmAuthor>
  <p:cmAuthor id="6" name="YAN LUO" initials="YL" lastIdx="1"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4F8"/>
    <a:srgbClr val="121619"/>
    <a:srgbClr val="0B49CB"/>
    <a:srgbClr val="F8F9FA"/>
    <a:srgbClr val="1C7DDB"/>
    <a:srgbClr val="F2F2F2"/>
    <a:srgbClr val="145579"/>
    <a:srgbClr val="3A6483"/>
    <a:srgbClr val="204E79"/>
    <a:srgbClr val="0054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8C9EB8-3540-3DFA-9212-535EE18E0E11}" v="77" dt="2021-07-12T20:33:42.116"/>
    <p1510:client id="{10340FDF-B15C-4CFF-B487-146F9B98A252}" v="28" dt="2021-08-10T21:47:37.589"/>
    <p1510:client id="{3BA0D230-C853-4667-83F9-D85E65BD4B24}" v="2" dt="2021-08-19T16:32:24.566"/>
    <p1510:client id="{5A0AAAB8-49A6-F942-A54D-C6F3E5FF3A63}" v="89" dt="2021-07-13T17:54:45.232"/>
    <p1510:client id="{76DF6DB8-F2E5-6C48-9ABE-786D868B0110}" v="955" dt="2021-07-13T17:56:41.616"/>
    <p1510:client id="{7FB42E05-DEC9-4126-B474-47B35F363E13}" v="30" dt="2021-07-12T20:25:12.855"/>
    <p1510:client id="{82D0390A-222A-332D-F9F9-70D15093EB60}" v="22" dt="2021-07-13T17:51:30.429"/>
    <p1510:client id="{86B35720-4193-446F-B2D5-9AD9984A55EF}" v="513" dt="2021-08-19T14:59:06.521"/>
    <p1510:client id="{998F4E3E-1A76-4A6B-98B6-08752F3768B3}" v="4" dt="2021-08-10T21:41:11.021"/>
    <p1510:client id="{9F30A1D2-6717-426C-A658-3A50309723ED}" v="4" dt="2021-08-10T21:42:35.526"/>
    <p1510:client id="{B63C8988-E1D3-4A52-8229-FA8C5EBD2ECD}" v="357" dt="2021-08-19T14:01:44.876"/>
    <p1510:client id="{C083896D-BE66-E85C-897C-A6AD0DF65F8C}" v="2226" dt="2021-07-13T17:34:38.142"/>
    <p1510:client id="{CC69BAD0-B878-4D5F-9EDC-F1CFB63E14B5}" v="190" dt="2021-08-18T18:06:57.811"/>
  </p1510:revLst>
</p1510:revInfo>
</file>

<file path=ppt/tableStyles.xml><?xml version="1.0" encoding="utf-8"?>
<a:tblStyleLst xmlns:a="http://schemas.openxmlformats.org/drawingml/2006/main" def="{5C22544A-7EE6-4342-B048-85BDC9FD1C3A}">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697" autoAdjust="0"/>
    <p:restoredTop sz="85169"/>
  </p:normalViewPr>
  <p:slideViewPr>
    <p:cSldViewPr snapToGrid="0" snapToObjects="1">
      <p:cViewPr varScale="1">
        <p:scale>
          <a:sx n="73" d="100"/>
          <a:sy n="73" d="100"/>
        </p:scale>
        <p:origin x="43" y="43"/>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commentAuthors" Target="commentAuthors.xml"/><Relationship Id="rId58" Type="http://schemas.microsoft.com/office/2015/10/relationships/revisionInfo" Target="revisionInfo.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ableStyles" Target="tableStyle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D167474-952B-AC43-BEC3-541C80E3FD9C}"/>
              </a:ext>
            </a:extLst>
          </p:cNvPr>
          <p:cNvSpPr>
            <a:spLocks noGrp="1"/>
          </p:cNvSpPr>
          <p:nvPr>
            <p:ph type="hdr" sz="quarter"/>
          </p:nvPr>
        </p:nvSpPr>
        <p:spPr>
          <a:xfrm>
            <a:off x="0" y="0"/>
            <a:ext cx="2971800" cy="93663"/>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B6DC1C6-1287-2C4A-84C8-98EFD82F9A6C}"/>
              </a:ext>
            </a:extLst>
          </p:cNvPr>
          <p:cNvSpPr>
            <a:spLocks noGrp="1"/>
          </p:cNvSpPr>
          <p:nvPr>
            <p:ph type="dt" sz="quarter" idx="1"/>
          </p:nvPr>
        </p:nvSpPr>
        <p:spPr>
          <a:xfrm>
            <a:off x="3884613" y="0"/>
            <a:ext cx="2971800" cy="93663"/>
          </a:xfrm>
          <a:prstGeom prst="rect">
            <a:avLst/>
          </a:prstGeom>
        </p:spPr>
        <p:txBody>
          <a:bodyPr vert="horz" lIns="91440" tIns="45720" rIns="91440" bIns="45720" rtlCol="0"/>
          <a:lstStyle>
            <a:lvl1pPr algn="r">
              <a:defRPr sz="1200"/>
            </a:lvl1pPr>
          </a:lstStyle>
          <a:p>
            <a:fld id="{C61B1DFE-DEC1-F84C-B64B-0BC4AFB87332}" type="datetimeFigureOut">
              <a:rPr lang="en-US" smtClean="0"/>
              <a:t>1/6/2026</a:t>
            </a:fld>
            <a:endParaRPr lang="en-US"/>
          </a:p>
        </p:txBody>
      </p:sp>
      <p:sp>
        <p:nvSpPr>
          <p:cNvPr id="4" name="Footer Placeholder 3">
            <a:extLst>
              <a:ext uri="{FF2B5EF4-FFF2-40B4-BE49-F238E27FC236}">
                <a16:creationId xmlns:a16="http://schemas.microsoft.com/office/drawing/2014/main" id="{06B322D0-710C-764D-ADE9-C566FF3B05D7}"/>
              </a:ext>
            </a:extLst>
          </p:cNvPr>
          <p:cNvSpPr>
            <a:spLocks noGrp="1"/>
          </p:cNvSpPr>
          <p:nvPr>
            <p:ph type="ftr" sz="quarter" idx="2"/>
          </p:nvPr>
        </p:nvSpPr>
        <p:spPr>
          <a:xfrm>
            <a:off x="0" y="1763713"/>
            <a:ext cx="2971800" cy="93662"/>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42A2AE0-FDA0-1248-8D07-A5244E897ED5}"/>
              </a:ext>
            </a:extLst>
          </p:cNvPr>
          <p:cNvSpPr>
            <a:spLocks noGrp="1"/>
          </p:cNvSpPr>
          <p:nvPr>
            <p:ph type="sldNum" sz="quarter" idx="3"/>
          </p:nvPr>
        </p:nvSpPr>
        <p:spPr>
          <a:xfrm>
            <a:off x="3884613" y="1763713"/>
            <a:ext cx="2971800" cy="93662"/>
          </a:xfrm>
          <a:prstGeom prst="rect">
            <a:avLst/>
          </a:prstGeom>
        </p:spPr>
        <p:txBody>
          <a:bodyPr vert="horz" lIns="91440" tIns="45720" rIns="91440" bIns="45720" rtlCol="0" anchor="b"/>
          <a:lstStyle>
            <a:lvl1pPr algn="r">
              <a:defRPr sz="1200"/>
            </a:lvl1pPr>
          </a:lstStyle>
          <a:p>
            <a:fld id="{FD91E733-BECA-E944-9B7F-321864631FC0}" type="slidenum">
              <a:rPr lang="en-US" smtClean="0"/>
              <a:t>‹#›</a:t>
            </a:fld>
            <a:endParaRPr lang="en-US"/>
          </a:p>
        </p:txBody>
      </p:sp>
    </p:spTree>
    <p:extLst>
      <p:ext uri="{BB962C8B-B14F-4D97-AF65-F5344CB8AC3E}">
        <p14:creationId xmlns:p14="http://schemas.microsoft.com/office/powerpoint/2010/main" val="407101556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497948-54D2-43F8-9A63-A99FE3051738}" type="datetimeFigureOut">
              <a:rPr lang="en-US" smtClean="0"/>
              <a:t>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BDA0E2-FEBD-4B65-8F16-724CF984F377}" type="slidenum">
              <a:rPr lang="en-US" smtClean="0"/>
              <a:t>‹#›</a:t>
            </a:fld>
            <a:endParaRPr lang="en-US"/>
          </a:p>
        </p:txBody>
      </p:sp>
    </p:spTree>
    <p:extLst>
      <p:ext uri="{BB962C8B-B14F-4D97-AF65-F5344CB8AC3E}">
        <p14:creationId xmlns:p14="http://schemas.microsoft.com/office/powerpoint/2010/main" val="2802222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t>2</a:t>
            </a:fld>
            <a:endParaRPr lang="en-US" dirty="0"/>
          </a:p>
        </p:txBody>
      </p:sp>
    </p:spTree>
    <p:extLst>
      <p:ext uri="{BB962C8B-B14F-4D97-AF65-F5344CB8AC3E}">
        <p14:creationId xmlns:p14="http://schemas.microsoft.com/office/powerpoint/2010/main" val="42083152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a:p>
        </p:txBody>
      </p:sp>
      <p:sp>
        <p:nvSpPr>
          <p:cNvPr id="4" name="Slide Number Placeholder 3"/>
          <p:cNvSpPr>
            <a:spLocks noGrp="1"/>
          </p:cNvSpPr>
          <p:nvPr>
            <p:ph type="sldNum" sz="quarter" idx="5"/>
          </p:nvPr>
        </p:nvSpPr>
        <p:spPr/>
        <p:txBody>
          <a:bodyPr/>
          <a:lstStyle/>
          <a:p>
            <a:fld id="{EEBDA0E2-FEBD-4B65-8F16-724CF984F377}" type="slidenum">
              <a:rPr lang="en-US" smtClean="0"/>
              <a:t>6</a:t>
            </a:fld>
            <a:endParaRPr lang="en-US"/>
          </a:p>
        </p:txBody>
      </p:sp>
    </p:spTree>
    <p:extLst>
      <p:ext uri="{BB962C8B-B14F-4D97-AF65-F5344CB8AC3E}">
        <p14:creationId xmlns:p14="http://schemas.microsoft.com/office/powerpoint/2010/main" val="42262750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a:p>
        </p:txBody>
      </p:sp>
      <p:sp>
        <p:nvSpPr>
          <p:cNvPr id="4" name="Slide Number Placeholder 3"/>
          <p:cNvSpPr>
            <a:spLocks noGrp="1"/>
          </p:cNvSpPr>
          <p:nvPr>
            <p:ph type="sldNum" sz="quarter" idx="5"/>
          </p:nvPr>
        </p:nvSpPr>
        <p:spPr/>
        <p:txBody>
          <a:bodyPr/>
          <a:lstStyle/>
          <a:p>
            <a:fld id="{EEBDA0E2-FEBD-4B65-8F16-724CF984F377}" type="slidenum">
              <a:rPr lang="en-US" smtClean="0"/>
              <a:t>16</a:t>
            </a:fld>
            <a:endParaRPr lang="en-US"/>
          </a:p>
        </p:txBody>
      </p:sp>
    </p:spTree>
    <p:extLst>
      <p:ext uri="{BB962C8B-B14F-4D97-AF65-F5344CB8AC3E}">
        <p14:creationId xmlns:p14="http://schemas.microsoft.com/office/powerpoint/2010/main" val="39249665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92FDF747-B622-7F48-9215-C3A606BDEB98}"/>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23727294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CE525-4063-4C4F-8334-FBA02DB69372}"/>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CB14EC97-9D34-BE48-9367-02F3BA14827A}"/>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BB8E19-FEF2-7A4B-8575-5AFEB134BC56}"/>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1/6/2026</a:t>
            </a:fld>
            <a:endParaRPr lang="en-US"/>
          </a:p>
        </p:txBody>
      </p:sp>
      <p:sp>
        <p:nvSpPr>
          <p:cNvPr id="5" name="Footer Placeholder 4">
            <a:extLst>
              <a:ext uri="{FF2B5EF4-FFF2-40B4-BE49-F238E27FC236}">
                <a16:creationId xmlns:a16="http://schemas.microsoft.com/office/drawing/2014/main" id="{513A4E28-3138-784C-8CBB-8586D8EE030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FB07D0F-3645-6B43-9AD7-762199572C65}"/>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26698371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63CE8-FC8A-B648-971E-6DC96997A7A7}"/>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C634958-58AE-3F4E-8C00-440B25A937A7}"/>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5872462-6007-A64A-86E6-F5ED46C87269}"/>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1/6/2026</a:t>
            </a:fld>
            <a:endParaRPr lang="en-US"/>
          </a:p>
        </p:txBody>
      </p:sp>
      <p:sp>
        <p:nvSpPr>
          <p:cNvPr id="5" name="Footer Placeholder 4">
            <a:extLst>
              <a:ext uri="{FF2B5EF4-FFF2-40B4-BE49-F238E27FC236}">
                <a16:creationId xmlns:a16="http://schemas.microsoft.com/office/drawing/2014/main" id="{99D379FD-EE00-8243-9FA5-BC4C116FAB7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E72C754-6A4A-424A-B972-C341147C4E0D}"/>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39838514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B8FC9-14F0-064F-BEB7-9DA0B582216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9F565333-3885-5246-9997-584B944334CC}"/>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2A3D495-0AB7-4245-BD03-FEF725EE8B32}"/>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7A3532B-22A8-4948-8614-690AB67FC7F6}"/>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1/6/2026</a:t>
            </a:fld>
            <a:endParaRPr lang="en-US"/>
          </a:p>
        </p:txBody>
      </p:sp>
      <p:sp>
        <p:nvSpPr>
          <p:cNvPr id="6" name="Footer Placeholder 5">
            <a:extLst>
              <a:ext uri="{FF2B5EF4-FFF2-40B4-BE49-F238E27FC236}">
                <a16:creationId xmlns:a16="http://schemas.microsoft.com/office/drawing/2014/main" id="{BE45A5D6-868E-4849-A5DA-84702CEDFE8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7D682E35-43FC-E946-AA84-7E00546A24B6}"/>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14459830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14121-1457-7D45-BFFD-BECD6649741B}"/>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6CE09A76-C125-0945-BCD8-FF2A0498A56E}"/>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5B142CC-BC3F-664E-A6C2-3854B8D4E8C7}"/>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2FA8D54-9ED9-E345-B69E-FF5D485B134B}"/>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09B295F-F3C2-5646-A5F3-194FE6EFEB29}"/>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0516157-5FC9-E841-A6FC-14EBCFDEC672}"/>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1/6/2026</a:t>
            </a:fld>
            <a:endParaRPr lang="en-US"/>
          </a:p>
        </p:txBody>
      </p:sp>
      <p:sp>
        <p:nvSpPr>
          <p:cNvPr id="8" name="Footer Placeholder 7">
            <a:extLst>
              <a:ext uri="{FF2B5EF4-FFF2-40B4-BE49-F238E27FC236}">
                <a16:creationId xmlns:a16="http://schemas.microsoft.com/office/drawing/2014/main" id="{3544E072-D5B7-D647-82C0-40BEAE857D4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47A73D6E-2A82-7344-BB8C-513E6DA4E143}"/>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34721032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9B4CE-9E7B-564C-A6C3-DCABF996FBD2}"/>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4CF8A31D-92A5-DF47-9C3A-9F9C1CF8FC6B}"/>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1/6/2026</a:t>
            </a:fld>
            <a:endParaRPr lang="en-US"/>
          </a:p>
        </p:txBody>
      </p:sp>
      <p:sp>
        <p:nvSpPr>
          <p:cNvPr id="4" name="Footer Placeholder 3">
            <a:extLst>
              <a:ext uri="{FF2B5EF4-FFF2-40B4-BE49-F238E27FC236}">
                <a16:creationId xmlns:a16="http://schemas.microsoft.com/office/drawing/2014/main" id="{FFE7EADA-8BC4-974C-BBA1-7390F15FD58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E89EC0A8-C281-FF40-A774-EAF6089BB00F}"/>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24285880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F027EBC-C9EC-5844-B3BF-5151B2F70EA4}"/>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1/6/2026</a:t>
            </a:fld>
            <a:endParaRPr lang="en-US"/>
          </a:p>
        </p:txBody>
      </p:sp>
      <p:sp>
        <p:nvSpPr>
          <p:cNvPr id="3" name="Footer Placeholder 2">
            <a:extLst>
              <a:ext uri="{FF2B5EF4-FFF2-40B4-BE49-F238E27FC236}">
                <a16:creationId xmlns:a16="http://schemas.microsoft.com/office/drawing/2014/main" id="{A9F664BF-C7CE-DC46-9D6D-A9335EE9D8B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6A1AAD4E-B732-E349-8793-C20A3D6B70AE}"/>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14186288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3A651-FEEA-2140-82D8-9C06A36F929A}"/>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4D2DAEA-C881-354D-A17E-2A95857F0CA4}"/>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02148C2-62EB-B446-BB7C-69F5E480649F}"/>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14D069-D155-9141-9045-DB41904753A7}"/>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1/6/2026</a:t>
            </a:fld>
            <a:endParaRPr lang="en-US"/>
          </a:p>
        </p:txBody>
      </p:sp>
      <p:sp>
        <p:nvSpPr>
          <p:cNvPr id="6" name="Footer Placeholder 5">
            <a:extLst>
              <a:ext uri="{FF2B5EF4-FFF2-40B4-BE49-F238E27FC236}">
                <a16:creationId xmlns:a16="http://schemas.microsoft.com/office/drawing/2014/main" id="{2C0EE34C-EABB-6848-A341-7CA0C293798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C0C04AAD-C125-DD44-8102-9F28820805FD}"/>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41263519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D611A-FFDF-C848-A433-C5B125C402E0}"/>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96C0E97-AC3D-784B-96B7-0D18B5A35AE1}"/>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6B37986-0214-C348-AB5F-D54BF2881077}"/>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6860A9-8610-9347-BAE7-F23CCA13E55B}"/>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1/6/2026</a:t>
            </a:fld>
            <a:endParaRPr lang="en-US"/>
          </a:p>
        </p:txBody>
      </p:sp>
      <p:sp>
        <p:nvSpPr>
          <p:cNvPr id="6" name="Footer Placeholder 5">
            <a:extLst>
              <a:ext uri="{FF2B5EF4-FFF2-40B4-BE49-F238E27FC236}">
                <a16:creationId xmlns:a16="http://schemas.microsoft.com/office/drawing/2014/main" id="{14249D7C-BCAA-DE44-AE89-5178DA8D82A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55319C3-A65D-764B-BD49-57D0082AE9A9}"/>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33493135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DD383-EB92-5540-96BB-199B7760EF4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9FED7B-4DA5-4346-B7E2-D18782430F68}"/>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2B5F2C-52A9-3047-A473-9FFC051518A0}"/>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1/6/2026</a:t>
            </a:fld>
            <a:endParaRPr lang="en-US"/>
          </a:p>
        </p:txBody>
      </p:sp>
      <p:sp>
        <p:nvSpPr>
          <p:cNvPr id="5" name="Footer Placeholder 4">
            <a:extLst>
              <a:ext uri="{FF2B5EF4-FFF2-40B4-BE49-F238E27FC236}">
                <a16:creationId xmlns:a16="http://schemas.microsoft.com/office/drawing/2014/main" id="{DAC041C9-0677-664D-B2BB-69B0A6A7093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E0B34EA4-D670-2C41-9EF4-392023D22E4F}"/>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7485493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D05DB93-A58E-714C-BD6E-76F1D21AEA05}"/>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DF83819-F149-7645-A0DD-B53DD9D84837}"/>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FB065F-A67E-EF4E-A12F-EB30F584E490}"/>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1/6/2026</a:t>
            </a:fld>
            <a:endParaRPr lang="en-US"/>
          </a:p>
        </p:txBody>
      </p:sp>
      <p:sp>
        <p:nvSpPr>
          <p:cNvPr id="5" name="Footer Placeholder 4">
            <a:extLst>
              <a:ext uri="{FF2B5EF4-FFF2-40B4-BE49-F238E27FC236}">
                <a16:creationId xmlns:a16="http://schemas.microsoft.com/office/drawing/2014/main" id="{356E9D5F-8CC5-8740-9426-35E9D812FC6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BB1DE0B-93CB-5C41-B581-C00D0F9F7CC2}"/>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857294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name="1_Blank">
    <p:spTree>
      <p:nvGrpSpPr>
        <p:cNvPr id="1" name=""/>
        <p:cNvGrpSpPr/>
        <p:nvPr/>
      </p:nvGrpSpPr>
      <p:grpSpPr>
        <a:xfrm>
          <a:off x="0" y="0"/>
          <a:ext cx="0" cy="0"/>
          <a:chOff x="0" y="0"/>
          <a:chExt cx="0" cy="0"/>
        </a:xfrm>
      </p:grpSpPr>
      <p:sp>
        <p:nvSpPr>
          <p:cNvPr id="9" name="Title 1"/>
          <p:cNvSpPr>
            <a:spLocks noGrp="1"/>
          </p:cNvSpPr>
          <p:nvPr>
            <p:ph type="ctrTitle"/>
          </p:nvPr>
        </p:nvSpPr>
        <p:spPr>
          <a:xfrm>
            <a:off x="1524000" y="1122363"/>
            <a:ext cx="9144000" cy="2387600"/>
          </a:xfrm>
          <a:prstGeom prst="rect">
            <a:avLst/>
          </a:prstGeom>
        </p:spPr>
        <p:txBody>
          <a:bodyPr anchor="b">
            <a:normAutofit/>
          </a:bodyPr>
          <a:lstStyle>
            <a:lvl1pPr algn="ctr">
              <a:defRPr sz="48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a:t>Click to edit Master title style</a:t>
            </a:r>
          </a:p>
        </p:txBody>
      </p:sp>
      <p:sp>
        <p:nvSpPr>
          <p:cNvPr id="2" name="Footer Placeholder 1">
            <a:extLst>
              <a:ext uri="{FF2B5EF4-FFF2-40B4-BE49-F238E27FC236}">
                <a16:creationId xmlns:a16="http://schemas.microsoft.com/office/drawing/2014/main" id="{FD30FDD2-E0CC-3E4C-A49E-91BE8BE0367F}"/>
              </a:ext>
            </a:extLst>
          </p:cNvPr>
          <p:cNvSpPr>
            <a:spLocks noGrp="1"/>
          </p:cNvSpPr>
          <p:nvPr>
            <p:ph type="ftr" sz="quarter" idx="10"/>
          </p:nvPr>
        </p:nvSpPr>
        <p:spPr>
          <a:xfrm>
            <a:off x="4038600" y="6356350"/>
            <a:ext cx="4114800" cy="365125"/>
          </a:xfrm>
          <a:prstGeom prst="rect">
            <a:avLst/>
          </a:prstGeom>
        </p:spPr>
        <p:txBody>
          <a:bodyPr/>
          <a:lstStyle/>
          <a:p>
            <a:endParaRPr lang="en-US"/>
          </a:p>
        </p:txBody>
      </p:sp>
    </p:spTree>
    <p:extLst>
      <p:ext uri="{BB962C8B-B14F-4D97-AF65-F5344CB8AC3E}">
        <p14:creationId xmlns:p14="http://schemas.microsoft.com/office/powerpoint/2010/main" val="1038078290"/>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0D5B246-E282-3742-BD72-B1BCDC5A64B4}"/>
              </a:ext>
            </a:extLst>
          </p:cNvPr>
          <p:cNvSpPr>
            <a:spLocks noGrp="1"/>
          </p:cNvSpPr>
          <p:nvPr>
            <p:ph type="sldNum" sz="quarter" idx="4"/>
          </p:nvPr>
        </p:nvSpPr>
        <p:spPr>
          <a:xfrm>
            <a:off x="8714772" y="6025573"/>
            <a:ext cx="2743200" cy="401638"/>
          </a:xfrm>
          <a:prstGeom prst="rect">
            <a:avLst/>
          </a:prstGeom>
        </p:spPr>
        <p:txBody>
          <a:bodyPr vert="horz" lIns="91440" tIns="45720" rIns="91440" bIns="45720" rtlCol="0" anchor="ctr"/>
          <a:lstStyle>
            <a:lvl1pPr algn="r">
              <a:defRPr sz="1600">
                <a:solidFill>
                  <a:srgbClr val="1C7DDB"/>
                </a:solidFill>
                <a:latin typeface="Abadi" panose="020B0604020104020204" pitchFamily="34" charset="0"/>
              </a:defRPr>
            </a:lvl1pPr>
          </a:lstStyle>
          <a:p>
            <a:fld id="{A190C97C-0095-2443-AC12-FA4CBA4ACD4D}" type="slidenum">
              <a:rPr lang="en-US" smtClean="0"/>
              <a:pPr/>
              <a:t>‹#›</a:t>
            </a:fld>
            <a:endParaRPr lang="en-US"/>
          </a:p>
        </p:txBody>
      </p:sp>
    </p:spTree>
    <p:extLst>
      <p:ext uri="{BB962C8B-B14F-4D97-AF65-F5344CB8AC3E}">
        <p14:creationId xmlns:p14="http://schemas.microsoft.com/office/powerpoint/2010/main" val="2647310266"/>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 id="2147483694"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35.jpg"/><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E1FA8-0DA9-D55B-76FF-773AA76FB67D}"/>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9085B762-0BEC-D484-9BAD-B2BEE03A119A}"/>
              </a:ext>
            </a:extLst>
          </p:cNvPr>
          <p:cNvPicPr>
            <a:picLocks noChangeAspect="1"/>
          </p:cNvPicPr>
          <p:nvPr/>
        </p:nvPicPr>
        <p:blipFill>
          <a:blip r:embed="rId2"/>
          <a:stretch>
            <a:fillRect/>
          </a:stretch>
        </p:blipFill>
        <p:spPr>
          <a:xfrm>
            <a:off x="1396368" y="0"/>
            <a:ext cx="10795632" cy="6858000"/>
          </a:xfrm>
          <a:prstGeom prst="rect">
            <a:avLst/>
          </a:prstGeom>
        </p:spPr>
      </p:pic>
      <p:sp>
        <p:nvSpPr>
          <p:cNvPr id="5" name="Rectangle 4">
            <a:extLst>
              <a:ext uri="{FF2B5EF4-FFF2-40B4-BE49-F238E27FC236}">
                <a16:creationId xmlns:a16="http://schemas.microsoft.com/office/drawing/2014/main" id="{BDBDED74-E119-D9AA-0043-C1ABF2D0C5C6}"/>
              </a:ext>
            </a:extLst>
          </p:cNvPr>
          <p:cNvSpPr/>
          <p:nvPr/>
        </p:nvSpPr>
        <p:spPr>
          <a:xfrm>
            <a:off x="0" y="0"/>
            <a:ext cx="12192000" cy="6858000"/>
          </a:xfrm>
          <a:prstGeom prst="rect">
            <a:avLst/>
          </a:prstGeom>
          <a:gradFill flip="none" rotWithShape="1">
            <a:gsLst>
              <a:gs pos="74000">
                <a:schemeClr val="bg1">
                  <a:alpha val="0"/>
                </a:schemeClr>
              </a:gs>
              <a:gs pos="63000">
                <a:srgbClr val="121619">
                  <a:alpha val="0"/>
                </a:srgbClr>
              </a:gs>
              <a:gs pos="12000">
                <a:srgbClr val="121619"/>
              </a:gs>
              <a:gs pos="5000">
                <a:srgbClr val="121619"/>
              </a:gs>
              <a:gs pos="100000">
                <a:srgbClr val="121619">
                  <a:alpha val="0"/>
                </a:srgbClr>
              </a:gs>
              <a:gs pos="100000">
                <a:srgbClr val="F8F9FA">
                  <a:alpha val="0"/>
                </a:srgbClr>
              </a:gs>
            </a:gsLst>
            <a:lin ang="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590BD292-5176-2F06-C77B-2121A2F2BF7E}"/>
              </a:ext>
            </a:extLst>
          </p:cNvPr>
          <p:cNvSpPr>
            <a:spLocks noGrp="1"/>
          </p:cNvSpPr>
          <p:nvPr>
            <p:ph type="ctrTitle"/>
          </p:nvPr>
        </p:nvSpPr>
        <p:spPr>
          <a:xfrm>
            <a:off x="889820" y="2223390"/>
            <a:ext cx="4098869" cy="1205609"/>
          </a:xfrm>
        </p:spPr>
        <p:txBody>
          <a:bodyPr>
            <a:normAutofit fontScale="90000"/>
          </a:bodyPr>
          <a:lstStyle/>
          <a:p>
            <a:pPr algn="l"/>
            <a:r>
              <a:rPr lang="en-IN" b="1" dirty="0">
                <a:solidFill>
                  <a:schemeClr val="bg1"/>
                </a:solidFill>
              </a:rPr>
              <a:t>Space X </a:t>
            </a:r>
            <a:br>
              <a:rPr lang="en-IN" b="1" dirty="0">
                <a:solidFill>
                  <a:schemeClr val="bg1"/>
                </a:solidFill>
              </a:rPr>
            </a:br>
            <a:r>
              <a:rPr lang="en-IN" b="1" dirty="0">
                <a:solidFill>
                  <a:schemeClr val="bg1"/>
                </a:solidFill>
              </a:rPr>
              <a:t>Capstone Project</a:t>
            </a:r>
          </a:p>
        </p:txBody>
      </p:sp>
      <p:sp>
        <p:nvSpPr>
          <p:cNvPr id="12" name="TextBox 11">
            <a:extLst>
              <a:ext uri="{FF2B5EF4-FFF2-40B4-BE49-F238E27FC236}">
                <a16:creationId xmlns:a16="http://schemas.microsoft.com/office/drawing/2014/main" id="{9D70A417-E1B4-3A7A-13A3-618609B22D6A}"/>
              </a:ext>
            </a:extLst>
          </p:cNvPr>
          <p:cNvSpPr txBox="1"/>
          <p:nvPr/>
        </p:nvSpPr>
        <p:spPr>
          <a:xfrm>
            <a:off x="889820" y="4820334"/>
            <a:ext cx="2514600" cy="646331"/>
          </a:xfrm>
          <a:prstGeom prst="rect">
            <a:avLst/>
          </a:prstGeom>
          <a:noFill/>
        </p:spPr>
        <p:txBody>
          <a:bodyPr wrap="square" lIns="91440" tIns="45720" rIns="91440" bIns="45720" rtlCol="0" anchor="t">
            <a:spAutoFit/>
          </a:bodyPr>
          <a:lstStyle/>
          <a:p>
            <a:r>
              <a:rPr lang="en-US" dirty="0">
                <a:solidFill>
                  <a:schemeClr val="bg2"/>
                </a:solidFill>
                <a:latin typeface="Abadi" panose="020B0604020104020204" pitchFamily="34" charset="0"/>
                <a:ea typeface="SF Pro" pitchFamily="2" charset="0"/>
                <a:cs typeface="SF Pro" pitchFamily="2" charset="0"/>
              </a:rPr>
              <a:t>Prathyush Pavithran </a:t>
            </a:r>
            <a:br>
              <a:rPr lang="en-US" dirty="0">
                <a:solidFill>
                  <a:schemeClr val="bg2"/>
                </a:solidFill>
                <a:latin typeface="Abadi" panose="020B0604020104020204" pitchFamily="34" charset="0"/>
                <a:ea typeface="SF Pro" pitchFamily="2" charset="0"/>
                <a:cs typeface="SF Pro" pitchFamily="2" charset="0"/>
              </a:rPr>
            </a:br>
            <a:r>
              <a:rPr lang="en-US" dirty="0">
                <a:solidFill>
                  <a:schemeClr val="bg2"/>
                </a:solidFill>
                <a:latin typeface="Abadi" panose="020B0604020104020204" pitchFamily="34" charset="0"/>
                <a:ea typeface="SF Pro" pitchFamily="2" charset="0"/>
                <a:cs typeface="SF Pro" pitchFamily="2" charset="0"/>
              </a:rPr>
              <a:t>06 </a:t>
            </a:r>
            <a:r>
              <a:rPr lang="en-IN" dirty="0">
                <a:solidFill>
                  <a:schemeClr val="bg2"/>
                </a:solidFill>
                <a:latin typeface="Abadi" panose="020B0604020104020204" pitchFamily="34" charset="0"/>
                <a:ea typeface="SF Pro" pitchFamily="2" charset="0"/>
                <a:cs typeface="SF Pro" pitchFamily="2" charset="0"/>
              </a:rPr>
              <a:t>January</a:t>
            </a:r>
            <a:r>
              <a:rPr lang="en-US" dirty="0">
                <a:solidFill>
                  <a:schemeClr val="bg2"/>
                </a:solidFill>
                <a:latin typeface="Abadi" panose="020B0604020104020204" pitchFamily="34" charset="0"/>
                <a:ea typeface="SF Pro" pitchFamily="2" charset="0"/>
                <a:cs typeface="SF Pro" pitchFamily="2" charset="0"/>
              </a:rPr>
              <a:t> 2026</a:t>
            </a:r>
          </a:p>
        </p:txBody>
      </p:sp>
      <p:grpSp>
        <p:nvGrpSpPr>
          <p:cNvPr id="3" name="Group 2">
            <a:extLst>
              <a:ext uri="{FF2B5EF4-FFF2-40B4-BE49-F238E27FC236}">
                <a16:creationId xmlns:a16="http://schemas.microsoft.com/office/drawing/2014/main" id="{B6CF1E02-6FB1-C6E4-B96A-E2D0C7395C54}"/>
              </a:ext>
            </a:extLst>
          </p:cNvPr>
          <p:cNvGrpSpPr/>
          <p:nvPr/>
        </p:nvGrpSpPr>
        <p:grpSpPr>
          <a:xfrm>
            <a:off x="9931078" y="-716280"/>
            <a:ext cx="1453234" cy="1432560"/>
            <a:chOff x="9931078" y="-716280"/>
            <a:chExt cx="1453234" cy="1432560"/>
          </a:xfrm>
        </p:grpSpPr>
        <p:sp>
          <p:nvSpPr>
            <p:cNvPr id="6" name="Rectangle: Rounded Corners 5">
              <a:extLst>
                <a:ext uri="{FF2B5EF4-FFF2-40B4-BE49-F238E27FC236}">
                  <a16:creationId xmlns:a16="http://schemas.microsoft.com/office/drawing/2014/main" id="{A4781ABB-9AAD-8677-788C-5A0AA74B2764}"/>
                </a:ext>
              </a:extLst>
            </p:cNvPr>
            <p:cNvSpPr/>
            <p:nvPr/>
          </p:nvSpPr>
          <p:spPr>
            <a:xfrm>
              <a:off x="9931078" y="-716280"/>
              <a:ext cx="1453234" cy="143256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7" name="Picture 6">
              <a:extLst>
                <a:ext uri="{FF2B5EF4-FFF2-40B4-BE49-F238E27FC236}">
                  <a16:creationId xmlns:a16="http://schemas.microsoft.com/office/drawing/2014/main" id="{BB37A26C-0B57-219D-5CB9-B8D47F9894B8}"/>
                </a:ext>
              </a:extLst>
            </p:cNvPr>
            <p:cNvPicPr>
              <a:picLocks noChangeAspect="1"/>
            </p:cNvPicPr>
            <p:nvPr/>
          </p:nvPicPr>
          <p:blipFill>
            <a:blip r:embed="rId3"/>
            <a:srcRect/>
            <a:stretch/>
          </p:blipFill>
          <p:spPr>
            <a:xfrm>
              <a:off x="10186806" y="92598"/>
              <a:ext cx="941777" cy="470888"/>
            </a:xfrm>
            <a:prstGeom prst="rect">
              <a:avLst/>
            </a:prstGeom>
            <a:effectLst>
              <a:softEdge rad="0"/>
            </a:effectLst>
            <a:scene3d>
              <a:camera prst="orthographicFront"/>
              <a:lightRig rig="threePt" dir="t"/>
            </a:scene3d>
            <a:sp3d prstMaterial="matte"/>
          </p:spPr>
        </p:pic>
      </p:grpSp>
    </p:spTree>
    <p:extLst>
      <p:ext uri="{BB962C8B-B14F-4D97-AF65-F5344CB8AC3E}">
        <p14:creationId xmlns:p14="http://schemas.microsoft.com/office/powerpoint/2010/main" val="3373395704"/>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2403FD9-22AB-4833-9FE0-E1E67C96862D}"/>
              </a:ext>
            </a:extLst>
          </p:cNvPr>
          <p:cNvSpPr>
            <a:spLocks noGrp="1"/>
          </p:cNvSpPr>
          <p:nvPr>
            <p:ph type="sldNum" sz="quarter" idx="12"/>
          </p:nvPr>
        </p:nvSpPr>
        <p:spPr/>
        <p:txBody>
          <a:bodyPr anchor="ctr">
            <a:normAutofit/>
          </a:bodyPr>
          <a:lstStyle/>
          <a:p>
            <a:fld id="{5075537C-CA84-1446-933C-8E9D027F9201}" type="slidenum">
              <a:rPr lang="en-US" smtClean="0"/>
              <a:pPr/>
              <a:t>2</a:t>
            </a:fld>
            <a:endParaRPr lang="en-US" dirty="0"/>
          </a:p>
        </p:txBody>
      </p:sp>
      <p:sp>
        <p:nvSpPr>
          <p:cNvPr id="10" name="Content Placeholder 2">
            <a:extLst>
              <a:ext uri="{FF2B5EF4-FFF2-40B4-BE49-F238E27FC236}">
                <a16:creationId xmlns:a16="http://schemas.microsoft.com/office/drawing/2014/main" id="{79EF1473-3ADD-43F1-A495-57AAB7FD902F}"/>
              </a:ext>
            </a:extLst>
          </p:cNvPr>
          <p:cNvSpPr txBox="1">
            <a:spLocks/>
          </p:cNvSpPr>
          <p:nvPr/>
        </p:nvSpPr>
        <p:spPr>
          <a:xfrm>
            <a:off x="958697" y="2113240"/>
            <a:ext cx="5167086" cy="3320824"/>
          </a:xfrm>
          <a:prstGeom prst="rect">
            <a:avLst/>
          </a:prstGeom>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nSpc>
                <a:spcPct val="100000"/>
              </a:lnSpc>
              <a:spcBef>
                <a:spcPts val="1400"/>
              </a:spcBef>
            </a:pPr>
            <a:r>
              <a:rPr lang="en-US" sz="2200" dirty="0">
                <a:solidFill>
                  <a:schemeClr val="accent3">
                    <a:lumMod val="25000"/>
                  </a:schemeClr>
                </a:solidFill>
                <a:latin typeface="Abadi"/>
              </a:rPr>
              <a:t>Executive Summary</a:t>
            </a:r>
          </a:p>
          <a:p>
            <a:pPr>
              <a:lnSpc>
                <a:spcPct val="100000"/>
              </a:lnSpc>
              <a:spcBef>
                <a:spcPts val="1400"/>
              </a:spcBef>
            </a:pPr>
            <a:r>
              <a:rPr lang="en-US" sz="2200" dirty="0">
                <a:solidFill>
                  <a:schemeClr val="accent3">
                    <a:lumMod val="25000"/>
                  </a:schemeClr>
                </a:solidFill>
                <a:latin typeface="Abadi"/>
              </a:rPr>
              <a:t>Introduction</a:t>
            </a:r>
          </a:p>
          <a:p>
            <a:pPr>
              <a:lnSpc>
                <a:spcPct val="100000"/>
              </a:lnSpc>
              <a:spcBef>
                <a:spcPts val="1400"/>
              </a:spcBef>
            </a:pPr>
            <a:r>
              <a:rPr lang="en-US" sz="2200" dirty="0">
                <a:solidFill>
                  <a:schemeClr val="accent3">
                    <a:lumMod val="25000"/>
                  </a:schemeClr>
                </a:solidFill>
                <a:latin typeface="Abadi"/>
              </a:rPr>
              <a:t>Methodology</a:t>
            </a:r>
          </a:p>
          <a:p>
            <a:pPr>
              <a:lnSpc>
                <a:spcPct val="100000"/>
              </a:lnSpc>
              <a:spcBef>
                <a:spcPts val="1400"/>
              </a:spcBef>
            </a:pPr>
            <a:r>
              <a:rPr lang="en-US" sz="2200" dirty="0">
                <a:solidFill>
                  <a:schemeClr val="accent3">
                    <a:lumMod val="25000"/>
                  </a:schemeClr>
                </a:solidFill>
                <a:latin typeface="Abadi"/>
              </a:rPr>
              <a:t>Results</a:t>
            </a:r>
          </a:p>
          <a:p>
            <a:pPr>
              <a:lnSpc>
                <a:spcPct val="100000"/>
              </a:lnSpc>
              <a:spcBef>
                <a:spcPts val="1400"/>
              </a:spcBef>
            </a:pPr>
            <a:r>
              <a:rPr lang="en-US" sz="2200" dirty="0">
                <a:solidFill>
                  <a:schemeClr val="accent3">
                    <a:lumMod val="25000"/>
                  </a:schemeClr>
                </a:solidFill>
                <a:latin typeface="Abadi"/>
              </a:rPr>
              <a:t>Conclusion</a:t>
            </a:r>
          </a:p>
          <a:p>
            <a:pPr>
              <a:lnSpc>
                <a:spcPct val="100000"/>
              </a:lnSpc>
              <a:spcBef>
                <a:spcPts val="1400"/>
              </a:spcBef>
            </a:pPr>
            <a:r>
              <a:rPr lang="en-US" sz="2200" dirty="0">
                <a:solidFill>
                  <a:schemeClr val="accent3">
                    <a:lumMod val="25000"/>
                  </a:schemeClr>
                </a:solidFill>
                <a:latin typeface="Abadi"/>
              </a:rPr>
              <a:t>Appendix</a:t>
            </a:r>
          </a:p>
        </p:txBody>
      </p:sp>
      <p:sp>
        <p:nvSpPr>
          <p:cNvPr id="19" name="Title 1">
            <a:extLst>
              <a:ext uri="{FF2B5EF4-FFF2-40B4-BE49-F238E27FC236}">
                <a16:creationId xmlns:a16="http://schemas.microsoft.com/office/drawing/2014/main" id="{6CA66F18-AF00-434A-AB3C-61097BEAE5FA}"/>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Outline</a:t>
            </a:r>
          </a:p>
        </p:txBody>
      </p:sp>
    </p:spTree>
    <p:extLst>
      <p:ext uri="{BB962C8B-B14F-4D97-AF65-F5344CB8AC3E}">
        <p14:creationId xmlns:p14="http://schemas.microsoft.com/office/powerpoint/2010/main" val="7240380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2403FD9-22AB-4833-9FE0-E1E67C96862D}"/>
              </a:ext>
            </a:extLst>
          </p:cNvPr>
          <p:cNvSpPr>
            <a:spLocks noGrp="1"/>
          </p:cNvSpPr>
          <p:nvPr>
            <p:ph type="sldNum" sz="quarter" idx="12"/>
          </p:nvPr>
        </p:nvSpPr>
        <p:spPr>
          <a:xfrm>
            <a:off x="8714772" y="6332572"/>
            <a:ext cx="2743200" cy="401638"/>
          </a:xfrm>
        </p:spPr>
        <p:txBody>
          <a:bodyPr anchor="ctr">
            <a:normAutofit/>
          </a:bodyPr>
          <a:lstStyle/>
          <a:p>
            <a:pPr>
              <a:spcAft>
                <a:spcPts val="600"/>
              </a:spcAft>
            </a:pPr>
            <a:fld id="{5075537C-CA84-1446-933C-8E9D027F9201}" type="slidenum">
              <a:rPr lang="en-US" smtClean="0"/>
              <a:pPr>
                <a:spcAft>
                  <a:spcPts val="600"/>
                </a:spcAft>
              </a:pPr>
              <a:t>3</a:t>
            </a:fld>
            <a:endParaRPr lang="en-US" dirty="0"/>
          </a:p>
        </p:txBody>
      </p:sp>
      <p:sp>
        <p:nvSpPr>
          <p:cNvPr id="10" name="Content Placeholder 2">
            <a:extLst>
              <a:ext uri="{FF2B5EF4-FFF2-40B4-BE49-F238E27FC236}">
                <a16:creationId xmlns:a16="http://schemas.microsoft.com/office/drawing/2014/main" id="{79EF1473-3ADD-43F1-A495-57AAB7FD902F}"/>
              </a:ext>
            </a:extLst>
          </p:cNvPr>
          <p:cNvSpPr txBox="1">
            <a:spLocks/>
          </p:cNvSpPr>
          <p:nvPr/>
        </p:nvSpPr>
        <p:spPr>
          <a:xfrm>
            <a:off x="770011" y="1502559"/>
            <a:ext cx="10687961" cy="4816791"/>
          </a:xfrm>
          <a:prstGeom prst="rect">
            <a:avLst/>
          </a:prstGeom>
        </p:spPr>
        <p:txBody>
          <a:bodyPr lIns="91440" tIns="45720" rIns="91440" bIns="45720" anchor="t">
            <a:normAutofit fontScale="92500" lnSpcReduction="20000"/>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nSpc>
                <a:spcPct val="100000"/>
              </a:lnSpc>
              <a:spcBef>
                <a:spcPts val="1400"/>
              </a:spcBef>
            </a:pPr>
            <a:r>
              <a:rPr lang="en-US" sz="2200" dirty="0">
                <a:solidFill>
                  <a:schemeClr val="accent3">
                    <a:lumMod val="25000"/>
                  </a:schemeClr>
                </a:solidFill>
                <a:latin typeface="Abadi" panose="020B0604020104020204" pitchFamily="34" charset="0"/>
              </a:rPr>
              <a:t>Summary of methodologies</a:t>
            </a:r>
          </a:p>
          <a:p>
            <a:pPr lvl="1">
              <a:lnSpc>
                <a:spcPct val="100000"/>
              </a:lnSpc>
              <a:spcBef>
                <a:spcPts val="1400"/>
              </a:spcBef>
              <a:buFontTx/>
              <a:buChar char="-"/>
            </a:pPr>
            <a:r>
              <a:rPr lang="en-US" sz="1800" dirty="0">
                <a:solidFill>
                  <a:schemeClr val="accent3">
                    <a:lumMod val="25000"/>
                  </a:schemeClr>
                </a:solidFill>
                <a:latin typeface="Abadi" panose="020B0604020104020204" pitchFamily="34" charset="0"/>
              </a:rPr>
              <a:t>Data Collection through API</a:t>
            </a:r>
          </a:p>
          <a:p>
            <a:pPr lvl="1">
              <a:lnSpc>
                <a:spcPct val="100000"/>
              </a:lnSpc>
              <a:spcBef>
                <a:spcPts val="1400"/>
              </a:spcBef>
              <a:buFontTx/>
              <a:buChar char="-"/>
            </a:pPr>
            <a:r>
              <a:rPr lang="en-US" sz="1800" dirty="0">
                <a:solidFill>
                  <a:schemeClr val="accent3">
                    <a:lumMod val="25000"/>
                  </a:schemeClr>
                </a:solidFill>
                <a:latin typeface="Abadi" panose="020B0604020104020204" pitchFamily="34" charset="0"/>
              </a:rPr>
              <a:t>Data Collection with Web Scraping</a:t>
            </a:r>
          </a:p>
          <a:p>
            <a:pPr lvl="1">
              <a:lnSpc>
                <a:spcPct val="100000"/>
              </a:lnSpc>
              <a:spcBef>
                <a:spcPts val="1400"/>
              </a:spcBef>
              <a:buFontTx/>
              <a:buChar char="-"/>
            </a:pPr>
            <a:r>
              <a:rPr lang="en-US" sz="1800" dirty="0">
                <a:solidFill>
                  <a:schemeClr val="accent3">
                    <a:lumMod val="25000"/>
                  </a:schemeClr>
                </a:solidFill>
                <a:latin typeface="Abadi" panose="020B0604020104020204" pitchFamily="34" charset="0"/>
              </a:rPr>
              <a:t>Data Wrangling</a:t>
            </a:r>
          </a:p>
          <a:p>
            <a:pPr lvl="1">
              <a:lnSpc>
                <a:spcPct val="100000"/>
              </a:lnSpc>
              <a:spcBef>
                <a:spcPts val="1400"/>
              </a:spcBef>
              <a:buFontTx/>
              <a:buChar char="-"/>
            </a:pPr>
            <a:r>
              <a:rPr lang="en-US" sz="1800" dirty="0">
                <a:solidFill>
                  <a:schemeClr val="accent3">
                    <a:lumMod val="25000"/>
                  </a:schemeClr>
                </a:solidFill>
                <a:latin typeface="Abadi" panose="020B0604020104020204" pitchFamily="34" charset="0"/>
              </a:rPr>
              <a:t>Exploratory Data Analysis with SQL</a:t>
            </a:r>
          </a:p>
          <a:p>
            <a:pPr lvl="1">
              <a:lnSpc>
                <a:spcPct val="100000"/>
              </a:lnSpc>
              <a:spcBef>
                <a:spcPts val="1400"/>
              </a:spcBef>
              <a:buFontTx/>
              <a:buChar char="-"/>
            </a:pPr>
            <a:r>
              <a:rPr lang="en-US" sz="1800" dirty="0">
                <a:solidFill>
                  <a:schemeClr val="accent3">
                    <a:lumMod val="25000"/>
                  </a:schemeClr>
                </a:solidFill>
                <a:latin typeface="Abadi" panose="020B0604020104020204" pitchFamily="34" charset="0"/>
              </a:rPr>
              <a:t>Exploratory Data Analysis with Data Visualization</a:t>
            </a:r>
          </a:p>
          <a:p>
            <a:pPr lvl="1">
              <a:lnSpc>
                <a:spcPct val="100000"/>
              </a:lnSpc>
              <a:spcBef>
                <a:spcPts val="1400"/>
              </a:spcBef>
              <a:buFontTx/>
              <a:buChar char="-"/>
            </a:pPr>
            <a:r>
              <a:rPr lang="en-US" sz="1800" dirty="0">
                <a:solidFill>
                  <a:schemeClr val="accent3">
                    <a:lumMod val="25000"/>
                  </a:schemeClr>
                </a:solidFill>
                <a:latin typeface="Abadi" panose="020B0604020104020204" pitchFamily="34" charset="0"/>
              </a:rPr>
              <a:t>Interactive Visual Analytics with Folium</a:t>
            </a:r>
          </a:p>
          <a:p>
            <a:pPr lvl="1">
              <a:lnSpc>
                <a:spcPct val="100000"/>
              </a:lnSpc>
              <a:spcBef>
                <a:spcPts val="1400"/>
              </a:spcBef>
              <a:buFontTx/>
              <a:buChar char="-"/>
            </a:pPr>
            <a:r>
              <a:rPr lang="en-US" sz="1800" dirty="0">
                <a:solidFill>
                  <a:schemeClr val="accent3">
                    <a:lumMod val="25000"/>
                  </a:schemeClr>
                </a:solidFill>
                <a:latin typeface="Abadi" panose="020B0604020104020204" pitchFamily="34" charset="0"/>
              </a:rPr>
              <a:t>Machine Learning Prediction</a:t>
            </a:r>
          </a:p>
          <a:p>
            <a:pPr>
              <a:lnSpc>
                <a:spcPct val="100000"/>
              </a:lnSpc>
              <a:spcBef>
                <a:spcPts val="1400"/>
              </a:spcBef>
              <a:buFont typeface="Arial" panose="020B0604020202020204" pitchFamily="34" charset="0"/>
              <a:buChar char="•"/>
            </a:pPr>
            <a:r>
              <a:rPr lang="en-US" sz="2200" dirty="0">
                <a:solidFill>
                  <a:schemeClr val="accent3">
                    <a:lumMod val="25000"/>
                  </a:schemeClr>
                </a:solidFill>
                <a:latin typeface="Abadi" panose="020B0604020104020204" pitchFamily="34" charset="0"/>
              </a:rPr>
              <a:t>Summary of all results</a:t>
            </a:r>
            <a:endParaRPr lang="en-US" sz="1800" dirty="0">
              <a:solidFill>
                <a:schemeClr val="accent3">
                  <a:lumMod val="25000"/>
                </a:schemeClr>
              </a:solidFill>
              <a:latin typeface="Abadi" panose="020B0604020104020204" pitchFamily="34" charset="0"/>
            </a:endParaRPr>
          </a:p>
          <a:p>
            <a:pPr lvl="1">
              <a:lnSpc>
                <a:spcPct val="100000"/>
              </a:lnSpc>
              <a:spcBef>
                <a:spcPts val="1400"/>
              </a:spcBef>
              <a:buFontTx/>
              <a:buChar char="-"/>
            </a:pPr>
            <a:r>
              <a:rPr lang="en-US" sz="1800" dirty="0">
                <a:solidFill>
                  <a:schemeClr val="accent3">
                    <a:lumMod val="25000"/>
                  </a:schemeClr>
                </a:solidFill>
                <a:latin typeface="Abadi" panose="020B0604020104020204" pitchFamily="34" charset="0"/>
              </a:rPr>
              <a:t>Exploratory Data Analysis result</a:t>
            </a:r>
          </a:p>
          <a:p>
            <a:pPr lvl="1">
              <a:lnSpc>
                <a:spcPct val="100000"/>
              </a:lnSpc>
              <a:spcBef>
                <a:spcPts val="1400"/>
              </a:spcBef>
              <a:buFontTx/>
              <a:buChar char="-"/>
            </a:pPr>
            <a:r>
              <a:rPr lang="en-US" sz="1800" dirty="0">
                <a:solidFill>
                  <a:schemeClr val="accent3">
                    <a:lumMod val="25000"/>
                  </a:schemeClr>
                </a:solidFill>
                <a:latin typeface="Abadi" panose="020B0604020104020204" pitchFamily="34" charset="0"/>
              </a:rPr>
              <a:t>Interactive analytics in screenshots</a:t>
            </a:r>
          </a:p>
          <a:p>
            <a:pPr lvl="1">
              <a:lnSpc>
                <a:spcPct val="100000"/>
              </a:lnSpc>
              <a:spcBef>
                <a:spcPts val="1400"/>
              </a:spcBef>
              <a:buFontTx/>
              <a:buChar char="-"/>
            </a:pPr>
            <a:r>
              <a:rPr lang="en-US" sz="1800" dirty="0">
                <a:solidFill>
                  <a:schemeClr val="accent3">
                    <a:lumMod val="25000"/>
                  </a:schemeClr>
                </a:solidFill>
                <a:latin typeface="Abadi" panose="020B0604020104020204" pitchFamily="34" charset="0"/>
              </a:rPr>
              <a:t>Predictive Analytics result</a:t>
            </a:r>
          </a:p>
          <a:p>
            <a:pPr>
              <a:lnSpc>
                <a:spcPct val="100000"/>
              </a:lnSpc>
              <a:spcBef>
                <a:spcPts val="1400"/>
              </a:spcBef>
            </a:pPr>
            <a:endParaRPr lang="en-US" sz="2200" dirty="0">
              <a:solidFill>
                <a:schemeClr val="accent3">
                  <a:lumMod val="25000"/>
                </a:schemeClr>
              </a:solidFill>
              <a:latin typeface="Abadi" panose="020B0604020104020204" pitchFamily="34" charset="0"/>
            </a:endParaRPr>
          </a:p>
        </p:txBody>
      </p:sp>
      <p:sp>
        <p:nvSpPr>
          <p:cNvPr id="19" name="Title 1">
            <a:extLst>
              <a:ext uri="{FF2B5EF4-FFF2-40B4-BE49-F238E27FC236}">
                <a16:creationId xmlns:a16="http://schemas.microsoft.com/office/drawing/2014/main" id="{6CA66F18-AF00-434A-AB3C-61097BEAE5FA}"/>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Executive Summary</a:t>
            </a:r>
            <a:endParaRPr lang="en-US" dirty="0">
              <a:solidFill>
                <a:srgbClr val="0B49CB"/>
              </a:solidFill>
            </a:endParaRPr>
          </a:p>
        </p:txBody>
      </p:sp>
    </p:spTree>
    <p:extLst>
      <p:ext uri="{BB962C8B-B14F-4D97-AF65-F5344CB8AC3E}">
        <p14:creationId xmlns:p14="http://schemas.microsoft.com/office/powerpoint/2010/main" val="19802214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2403FD9-22AB-4833-9FE0-E1E67C96862D}"/>
              </a:ext>
            </a:extLst>
          </p:cNvPr>
          <p:cNvSpPr>
            <a:spLocks noGrp="1"/>
          </p:cNvSpPr>
          <p:nvPr>
            <p:ph type="sldNum" sz="quarter" idx="12"/>
          </p:nvPr>
        </p:nvSpPr>
        <p:spPr/>
        <p:txBody>
          <a:bodyPr anchor="ctr">
            <a:normAutofit/>
          </a:bodyPr>
          <a:lstStyle/>
          <a:p>
            <a:pPr>
              <a:spcAft>
                <a:spcPts val="600"/>
              </a:spcAft>
            </a:pPr>
            <a:fld id="{5075537C-CA84-1446-933C-8E9D027F9201}" type="slidenum">
              <a:rPr lang="en-US" smtClean="0"/>
              <a:pPr>
                <a:spcAft>
                  <a:spcPts val="600"/>
                </a:spcAft>
              </a:pPr>
              <a:t>4</a:t>
            </a:fld>
            <a:endParaRPr lang="en-US" dirty="0"/>
          </a:p>
        </p:txBody>
      </p:sp>
      <p:sp>
        <p:nvSpPr>
          <p:cNvPr id="19" name="Title 1">
            <a:extLst>
              <a:ext uri="{FF2B5EF4-FFF2-40B4-BE49-F238E27FC236}">
                <a16:creationId xmlns:a16="http://schemas.microsoft.com/office/drawing/2014/main" id="{6CA66F18-AF00-434A-AB3C-61097BEAE5FA}"/>
              </a:ext>
            </a:extLst>
          </p:cNvPr>
          <p:cNvSpPr txBox="1">
            <a:spLocks/>
          </p:cNvSpPr>
          <p:nvPr/>
        </p:nvSpPr>
        <p:spPr>
          <a:xfrm>
            <a:off x="828068" y="538650"/>
            <a:ext cx="10530114"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Introduction</a:t>
            </a:r>
            <a:endParaRPr lang="en-US">
              <a:solidFill>
                <a:srgbClr val="0B49CB"/>
              </a:solidFill>
            </a:endParaRPr>
          </a:p>
        </p:txBody>
      </p:sp>
      <p:sp>
        <p:nvSpPr>
          <p:cNvPr id="5" name="Content Placeholder 2">
            <a:extLst>
              <a:ext uri="{FF2B5EF4-FFF2-40B4-BE49-F238E27FC236}">
                <a16:creationId xmlns:a16="http://schemas.microsoft.com/office/drawing/2014/main" id="{8E999A1B-8752-489F-A63B-EA2F60186B52}"/>
              </a:ext>
            </a:extLst>
          </p:cNvPr>
          <p:cNvSpPr txBox="1">
            <a:spLocks/>
          </p:cNvSpPr>
          <p:nvPr/>
        </p:nvSpPr>
        <p:spPr>
          <a:xfrm>
            <a:off x="828068" y="1530575"/>
            <a:ext cx="9766360" cy="449499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spcBef>
                <a:spcPts val="1400"/>
              </a:spcBef>
            </a:pPr>
            <a:r>
              <a:rPr lang="en-US" sz="2200" dirty="0">
                <a:solidFill>
                  <a:schemeClr val="accent3">
                    <a:lumMod val="25000"/>
                  </a:schemeClr>
                </a:solidFill>
                <a:latin typeface="Abadi" panose="020B0604020104020204" pitchFamily="34" charset="0"/>
              </a:rPr>
              <a:t>Project background and context</a:t>
            </a:r>
          </a:p>
          <a:p>
            <a:pPr marL="457200" lvl="1" indent="0" algn="just">
              <a:spcBef>
                <a:spcPts val="1400"/>
              </a:spcBef>
              <a:buNone/>
            </a:pPr>
            <a:r>
              <a:rPr lang="en-US" sz="1800" dirty="0">
                <a:solidFill>
                  <a:schemeClr val="accent3">
                    <a:lumMod val="25000"/>
                  </a:schemeClr>
                </a:solidFill>
                <a:latin typeface="Abadi" panose="020B0604020104020204" pitchFamily="34" charset="0"/>
              </a:rPr>
              <a:t>Space X advertises Falcon 9 rocket launches on its website with a cost of 62 million dollars; other providers cost upward of 165 million dollars each, much of the savings is because Space X can reuse the first stage. Therefore, if we can determine if the first stage will land, we can determine the cost of a launch. This information can be used if an alternate company wants to bid against space X for a rocket launch. This goal of the project is to create a machine learning pipeline to predict if the first stage will land successfully.</a:t>
            </a:r>
          </a:p>
          <a:p>
            <a:pPr>
              <a:spcBef>
                <a:spcPts val="1400"/>
              </a:spcBef>
            </a:pPr>
            <a:r>
              <a:rPr lang="en-US" sz="2200" dirty="0">
                <a:solidFill>
                  <a:schemeClr val="accent3">
                    <a:lumMod val="25000"/>
                  </a:schemeClr>
                </a:solidFill>
                <a:latin typeface="Abadi" panose="020B0604020104020204" pitchFamily="34" charset="0"/>
              </a:rPr>
              <a:t>Problems you want to find answers</a:t>
            </a:r>
          </a:p>
          <a:p>
            <a:pPr lvl="1">
              <a:spcBef>
                <a:spcPts val="1400"/>
              </a:spcBef>
              <a:buFontTx/>
              <a:buChar char="-"/>
            </a:pPr>
            <a:r>
              <a:rPr lang="en-US" sz="1800" dirty="0">
                <a:solidFill>
                  <a:schemeClr val="accent3">
                    <a:lumMod val="25000"/>
                  </a:schemeClr>
                </a:solidFill>
                <a:latin typeface="Abadi" panose="020B0604020104020204" pitchFamily="34" charset="0"/>
              </a:rPr>
              <a:t>What factors determine if the rocket will land successfully?</a:t>
            </a:r>
          </a:p>
          <a:p>
            <a:pPr lvl="1">
              <a:spcBef>
                <a:spcPts val="1400"/>
              </a:spcBef>
              <a:buFontTx/>
              <a:buChar char="-"/>
            </a:pPr>
            <a:r>
              <a:rPr lang="en-US" sz="1800" dirty="0">
                <a:solidFill>
                  <a:schemeClr val="accent3">
                    <a:lumMod val="25000"/>
                  </a:schemeClr>
                </a:solidFill>
                <a:latin typeface="Abadi" panose="020B0604020104020204" pitchFamily="34" charset="0"/>
              </a:rPr>
              <a:t>The interaction amongst various features that determine the success rate of a successful landing.</a:t>
            </a:r>
          </a:p>
          <a:p>
            <a:pPr lvl="1">
              <a:spcBef>
                <a:spcPts val="1400"/>
              </a:spcBef>
              <a:buFontTx/>
              <a:buChar char="-"/>
            </a:pPr>
            <a:r>
              <a:rPr lang="en-US" sz="1800" dirty="0">
                <a:solidFill>
                  <a:schemeClr val="accent3">
                    <a:lumMod val="25000"/>
                  </a:schemeClr>
                </a:solidFill>
                <a:latin typeface="Abadi" panose="020B0604020104020204" pitchFamily="34" charset="0"/>
              </a:rPr>
              <a:t>What operating conditions needs to be in place to ensure a successful landing program.</a:t>
            </a:r>
          </a:p>
        </p:txBody>
      </p:sp>
    </p:spTree>
    <p:extLst>
      <p:ext uri="{BB962C8B-B14F-4D97-AF65-F5344CB8AC3E}">
        <p14:creationId xmlns:p14="http://schemas.microsoft.com/office/powerpoint/2010/main" val="25600613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4AE80-FFF0-838C-35F8-F0A19F89DD29}"/>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91AAFC7F-88B7-9D3B-0132-1712FD3F16FB}"/>
              </a:ext>
            </a:extLst>
          </p:cNvPr>
          <p:cNvPicPr>
            <a:picLocks noChangeAspect="1"/>
          </p:cNvPicPr>
          <p:nvPr/>
        </p:nvPicPr>
        <p:blipFill>
          <a:blip r:embed="rId2"/>
          <a:srcRect/>
          <a:stretch/>
        </p:blipFill>
        <p:spPr>
          <a:xfrm>
            <a:off x="1905916" y="0"/>
            <a:ext cx="10286084" cy="6858000"/>
          </a:xfrm>
          <a:prstGeom prst="rect">
            <a:avLst/>
          </a:prstGeom>
        </p:spPr>
      </p:pic>
      <p:sp>
        <p:nvSpPr>
          <p:cNvPr id="5" name="Rectangle 4">
            <a:extLst>
              <a:ext uri="{FF2B5EF4-FFF2-40B4-BE49-F238E27FC236}">
                <a16:creationId xmlns:a16="http://schemas.microsoft.com/office/drawing/2014/main" id="{611FAD7D-C98E-25AA-4589-DA2A29F4F932}"/>
              </a:ext>
            </a:extLst>
          </p:cNvPr>
          <p:cNvSpPr/>
          <p:nvPr/>
        </p:nvSpPr>
        <p:spPr>
          <a:xfrm>
            <a:off x="0" y="0"/>
            <a:ext cx="12060820" cy="6858000"/>
          </a:xfrm>
          <a:prstGeom prst="rect">
            <a:avLst/>
          </a:prstGeom>
          <a:gradFill flip="none" rotWithShape="1">
            <a:gsLst>
              <a:gs pos="70000">
                <a:schemeClr val="bg1">
                  <a:alpha val="0"/>
                </a:schemeClr>
              </a:gs>
              <a:gs pos="66000">
                <a:srgbClr val="121619">
                  <a:alpha val="0"/>
                </a:srgbClr>
              </a:gs>
              <a:gs pos="62000">
                <a:srgbClr val="121619">
                  <a:alpha val="0"/>
                </a:srgbClr>
              </a:gs>
              <a:gs pos="21000">
                <a:srgbClr val="121619"/>
              </a:gs>
              <a:gs pos="5000">
                <a:srgbClr val="121619"/>
              </a:gs>
              <a:gs pos="100000">
                <a:srgbClr val="121619">
                  <a:alpha val="0"/>
                </a:srgbClr>
              </a:gs>
              <a:gs pos="100000">
                <a:srgbClr val="F8F9FA">
                  <a:alpha val="0"/>
                </a:srgbClr>
              </a:gs>
            </a:gsLst>
            <a:lin ang="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B6C1D76F-7525-5A3A-D5AC-7D9D60B698EC}"/>
              </a:ext>
            </a:extLst>
          </p:cNvPr>
          <p:cNvSpPr>
            <a:spLocks noGrp="1"/>
          </p:cNvSpPr>
          <p:nvPr>
            <p:ph type="ctrTitle"/>
          </p:nvPr>
        </p:nvSpPr>
        <p:spPr>
          <a:xfrm>
            <a:off x="889820" y="3055854"/>
            <a:ext cx="4098869" cy="756169"/>
          </a:xfrm>
        </p:spPr>
        <p:txBody>
          <a:bodyPr>
            <a:normAutofit/>
          </a:bodyPr>
          <a:lstStyle/>
          <a:p>
            <a:pPr algn="l"/>
            <a:r>
              <a:rPr lang="en-IN" b="1" dirty="0">
                <a:solidFill>
                  <a:schemeClr val="bg1"/>
                </a:solidFill>
              </a:rPr>
              <a:t>Methodology</a:t>
            </a:r>
          </a:p>
        </p:txBody>
      </p:sp>
      <p:sp>
        <p:nvSpPr>
          <p:cNvPr id="12" name="TextBox 11">
            <a:extLst>
              <a:ext uri="{FF2B5EF4-FFF2-40B4-BE49-F238E27FC236}">
                <a16:creationId xmlns:a16="http://schemas.microsoft.com/office/drawing/2014/main" id="{B2118703-DF2E-B583-A2D9-0DA5579C6213}"/>
              </a:ext>
            </a:extLst>
          </p:cNvPr>
          <p:cNvSpPr txBox="1"/>
          <p:nvPr/>
        </p:nvSpPr>
        <p:spPr>
          <a:xfrm>
            <a:off x="889820" y="2269556"/>
            <a:ext cx="2514600" cy="369332"/>
          </a:xfrm>
          <a:prstGeom prst="rect">
            <a:avLst/>
          </a:prstGeom>
          <a:noFill/>
        </p:spPr>
        <p:txBody>
          <a:bodyPr wrap="square" lIns="91440" tIns="45720" rIns="91440" bIns="45720" rtlCol="0" anchor="t">
            <a:spAutoFit/>
          </a:bodyPr>
          <a:lstStyle/>
          <a:p>
            <a:r>
              <a:rPr lang="en-US" dirty="0">
                <a:solidFill>
                  <a:schemeClr val="bg2"/>
                </a:solidFill>
                <a:latin typeface="Abadi" panose="020B0604020104020204" pitchFamily="34" charset="0"/>
                <a:ea typeface="SF Pro" pitchFamily="2" charset="0"/>
                <a:cs typeface="SF Pro" pitchFamily="2" charset="0"/>
              </a:rPr>
              <a:t>Section 1</a:t>
            </a:r>
          </a:p>
        </p:txBody>
      </p:sp>
    </p:spTree>
    <p:extLst>
      <p:ext uri="{BB962C8B-B14F-4D97-AF65-F5344CB8AC3E}">
        <p14:creationId xmlns:p14="http://schemas.microsoft.com/office/powerpoint/2010/main" val="1756162614"/>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892CF01-5F8F-9D43-96B9-A581954BA94A}"/>
              </a:ext>
            </a:extLst>
          </p:cNvPr>
          <p:cNvSpPr>
            <a:spLocks noGrp="1"/>
          </p:cNvSpPr>
          <p:nvPr>
            <p:ph type="sldNum" sz="quarter" idx="12"/>
          </p:nvPr>
        </p:nvSpPr>
        <p:spPr/>
        <p:txBody>
          <a:bodyPr/>
          <a:lstStyle/>
          <a:p>
            <a:fld id="{5075537C-CA84-1446-933C-8E9D027F9201}" type="slidenum">
              <a:rPr lang="en-US" smtClean="0"/>
              <a:t>6</a:t>
            </a:fld>
            <a:endParaRPr lang="en-US" dirty="0"/>
          </a:p>
        </p:txBody>
      </p:sp>
      <p:sp>
        <p:nvSpPr>
          <p:cNvPr id="7" name="Content Placeholder 2">
            <a:extLst>
              <a:ext uri="{FF2B5EF4-FFF2-40B4-BE49-F238E27FC236}">
                <a16:creationId xmlns:a16="http://schemas.microsoft.com/office/drawing/2014/main" id="{0BFEC426-B615-E549-83E5-140FD588BC64}"/>
              </a:ext>
            </a:extLst>
          </p:cNvPr>
          <p:cNvSpPr txBox="1">
            <a:spLocks/>
          </p:cNvSpPr>
          <p:nvPr/>
        </p:nvSpPr>
        <p:spPr>
          <a:xfrm>
            <a:off x="770011" y="1580808"/>
            <a:ext cx="10104817" cy="5211877"/>
          </a:xfrm>
          <a:prstGeom prst="rect">
            <a:avLst/>
          </a:prstGeom>
        </p:spPr>
        <p:txBody>
          <a:bodyPr lIns="91440" tIns="45720" rIns="91440" bIns="45720" anchor="t">
            <a:normAutofit fontScale="25000" lnSpcReduction="20000"/>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nSpc>
                <a:spcPct val="120000"/>
              </a:lnSpc>
              <a:spcBef>
                <a:spcPts val="1400"/>
              </a:spcBef>
              <a:buNone/>
            </a:pPr>
            <a:r>
              <a:rPr lang="en-US" sz="8800" dirty="0">
                <a:solidFill>
                  <a:srgbClr val="0B49CB"/>
                </a:solidFill>
                <a:latin typeface="Abadi"/>
              </a:rPr>
              <a:t>Executive Summary</a:t>
            </a:r>
          </a:p>
          <a:p>
            <a:pPr>
              <a:lnSpc>
                <a:spcPct val="120000"/>
              </a:lnSpc>
              <a:spcBef>
                <a:spcPts val="1400"/>
              </a:spcBef>
            </a:pPr>
            <a:r>
              <a:rPr lang="en-US" sz="8800" dirty="0">
                <a:solidFill>
                  <a:schemeClr val="accent3">
                    <a:lumMod val="25000"/>
                  </a:schemeClr>
                </a:solidFill>
                <a:latin typeface="Abadi"/>
              </a:rPr>
              <a:t>Data collection methodology:</a:t>
            </a:r>
          </a:p>
          <a:p>
            <a:pPr lvl="1">
              <a:lnSpc>
                <a:spcPct val="120000"/>
              </a:lnSpc>
              <a:spcBef>
                <a:spcPts val="1400"/>
              </a:spcBef>
            </a:pPr>
            <a:r>
              <a:rPr lang="en-US" sz="7600" dirty="0">
                <a:solidFill>
                  <a:schemeClr val="bg2">
                    <a:lumMod val="50000"/>
                  </a:schemeClr>
                </a:solidFill>
                <a:latin typeface="Abadi"/>
              </a:rPr>
              <a:t>Data was collected using SpaceX API and web scraping from Wikipedia. </a:t>
            </a:r>
          </a:p>
          <a:p>
            <a:pPr>
              <a:lnSpc>
                <a:spcPct val="120000"/>
              </a:lnSpc>
              <a:spcBef>
                <a:spcPts val="1400"/>
              </a:spcBef>
            </a:pPr>
            <a:r>
              <a:rPr lang="en-US" sz="8800" dirty="0">
                <a:solidFill>
                  <a:schemeClr val="accent3">
                    <a:lumMod val="25000"/>
                  </a:schemeClr>
                </a:solidFill>
                <a:latin typeface="Abadi"/>
              </a:rPr>
              <a:t>Perform data wrangling</a:t>
            </a:r>
          </a:p>
          <a:p>
            <a:pPr lvl="1">
              <a:lnSpc>
                <a:spcPct val="120000"/>
              </a:lnSpc>
              <a:spcBef>
                <a:spcPts val="1400"/>
              </a:spcBef>
            </a:pPr>
            <a:r>
              <a:rPr lang="en-US" sz="7600" dirty="0">
                <a:solidFill>
                  <a:schemeClr val="bg2">
                    <a:lumMod val="50000"/>
                  </a:schemeClr>
                </a:solidFill>
                <a:latin typeface="Abadi"/>
              </a:rPr>
              <a:t>One-hot encoding was applied to categorical features</a:t>
            </a:r>
          </a:p>
          <a:p>
            <a:pPr>
              <a:lnSpc>
                <a:spcPct val="120000"/>
              </a:lnSpc>
              <a:spcBef>
                <a:spcPts val="1400"/>
              </a:spcBef>
            </a:pPr>
            <a:r>
              <a:rPr lang="en-US" sz="8800" dirty="0">
                <a:solidFill>
                  <a:schemeClr val="accent3">
                    <a:lumMod val="25000"/>
                  </a:schemeClr>
                </a:solidFill>
                <a:latin typeface="Abadi"/>
              </a:rPr>
              <a:t>Perform exploratory data analysis (EDA) using visualization and SQL</a:t>
            </a:r>
          </a:p>
          <a:p>
            <a:pPr>
              <a:lnSpc>
                <a:spcPct val="120000"/>
              </a:lnSpc>
              <a:spcBef>
                <a:spcPts val="1400"/>
              </a:spcBef>
            </a:pPr>
            <a:r>
              <a:rPr lang="en-US" sz="8800" dirty="0">
                <a:solidFill>
                  <a:schemeClr val="accent3">
                    <a:lumMod val="25000"/>
                  </a:schemeClr>
                </a:solidFill>
                <a:latin typeface="Abadi"/>
              </a:rPr>
              <a:t>Perform interactive visual analytics using Folium and Plotly Dash</a:t>
            </a:r>
          </a:p>
          <a:p>
            <a:pPr>
              <a:lnSpc>
                <a:spcPct val="120000"/>
              </a:lnSpc>
              <a:spcBef>
                <a:spcPts val="1400"/>
              </a:spcBef>
            </a:pPr>
            <a:r>
              <a:rPr lang="en-US" sz="8800" dirty="0">
                <a:solidFill>
                  <a:schemeClr val="accent3">
                    <a:lumMod val="25000"/>
                  </a:schemeClr>
                </a:solidFill>
                <a:latin typeface="Abadi"/>
              </a:rPr>
              <a:t>Perform predictive analysis using classification models</a:t>
            </a:r>
          </a:p>
          <a:p>
            <a:pPr lvl="1">
              <a:lnSpc>
                <a:spcPct val="120000"/>
              </a:lnSpc>
              <a:spcBef>
                <a:spcPts val="1400"/>
              </a:spcBef>
            </a:pPr>
            <a:r>
              <a:rPr lang="en-US" sz="7600" dirty="0">
                <a:solidFill>
                  <a:schemeClr val="bg2">
                    <a:lumMod val="50000"/>
                  </a:schemeClr>
                </a:solidFill>
                <a:latin typeface="Abadi"/>
              </a:rPr>
              <a:t>How to build, tune, evaluate classification models</a:t>
            </a:r>
          </a:p>
          <a:p>
            <a:pPr>
              <a:lnSpc>
                <a:spcPct val="120000"/>
              </a:lnSpc>
              <a:spcBef>
                <a:spcPts val="1400"/>
              </a:spcBef>
            </a:pPr>
            <a:endParaRPr lang="en-US" sz="8800" dirty="0">
              <a:solidFill>
                <a:schemeClr val="accent3">
                  <a:lumMod val="25000"/>
                </a:schemeClr>
              </a:solidFill>
              <a:latin typeface="Abadi"/>
            </a:endParaRPr>
          </a:p>
          <a:p>
            <a:pPr>
              <a:lnSpc>
                <a:spcPct val="100000"/>
              </a:lnSpc>
              <a:spcBef>
                <a:spcPts val="1400"/>
              </a:spcBef>
            </a:pPr>
            <a:endParaRPr lang="en-US" sz="2200" dirty="0">
              <a:solidFill>
                <a:schemeClr val="accent3">
                  <a:lumMod val="25000"/>
                </a:schemeClr>
              </a:solidFill>
              <a:latin typeface="Abadi"/>
            </a:endParaRPr>
          </a:p>
          <a:p>
            <a:pPr>
              <a:lnSpc>
                <a:spcPct val="100000"/>
              </a:lnSpc>
              <a:spcBef>
                <a:spcPts val="1400"/>
              </a:spcBef>
            </a:pPr>
            <a:endParaRPr lang="en-US" sz="2200" dirty="0">
              <a:solidFill>
                <a:schemeClr val="accent3">
                  <a:lumMod val="25000"/>
                </a:schemeClr>
              </a:solidFill>
              <a:latin typeface="Abadi"/>
            </a:endParaRPr>
          </a:p>
          <a:p>
            <a:pPr>
              <a:lnSpc>
                <a:spcPct val="100000"/>
              </a:lnSpc>
              <a:spcBef>
                <a:spcPts val="1400"/>
              </a:spcBef>
            </a:pPr>
            <a:endParaRPr lang="en-US" sz="2200" dirty="0">
              <a:solidFill>
                <a:schemeClr val="accent3">
                  <a:lumMod val="25000"/>
                </a:schemeClr>
              </a:solidFill>
              <a:latin typeface="Abadi"/>
            </a:endParaRPr>
          </a:p>
          <a:p>
            <a:pPr>
              <a:lnSpc>
                <a:spcPct val="100000"/>
              </a:lnSpc>
              <a:spcBef>
                <a:spcPts val="1400"/>
              </a:spcBef>
            </a:pPr>
            <a:endParaRPr lang="en-US" sz="2200" dirty="0">
              <a:solidFill>
                <a:schemeClr val="accent3">
                  <a:lumMod val="25000"/>
                </a:schemeClr>
              </a:solidFill>
              <a:latin typeface="Abadi"/>
            </a:endParaRPr>
          </a:p>
        </p:txBody>
      </p:sp>
      <p:sp>
        <p:nvSpPr>
          <p:cNvPr id="13" name="Title 1">
            <a:extLst>
              <a:ext uri="{FF2B5EF4-FFF2-40B4-BE49-F238E27FC236}">
                <a16:creationId xmlns:a16="http://schemas.microsoft.com/office/drawing/2014/main" id="{13C62649-0825-4926-8E2A-2EBCCFE00ECC}"/>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Methodology</a:t>
            </a:r>
            <a:endParaRPr lang="en-US" dirty="0">
              <a:solidFill>
                <a:srgbClr val="0B49CB"/>
              </a:solidFill>
            </a:endParaRPr>
          </a:p>
        </p:txBody>
      </p:sp>
    </p:spTree>
    <p:extLst>
      <p:ext uri="{BB962C8B-B14F-4D97-AF65-F5344CB8AC3E}">
        <p14:creationId xmlns:p14="http://schemas.microsoft.com/office/powerpoint/2010/main" val="15534327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72D0411-8FF8-C540-84AE-DBA0703D368C}"/>
              </a:ext>
            </a:extLst>
          </p:cNvPr>
          <p:cNvSpPr>
            <a:spLocks noGrp="1"/>
          </p:cNvSpPr>
          <p:nvPr>
            <p:ph type="sldNum" sz="quarter" idx="12"/>
          </p:nvPr>
        </p:nvSpPr>
        <p:spPr/>
        <p:txBody>
          <a:bodyPr/>
          <a:lstStyle/>
          <a:p>
            <a:fld id="{5075537C-CA84-1446-933C-8E9D027F9201}" type="slidenum">
              <a:rPr lang="en-US" smtClean="0"/>
              <a:t>7</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1" y="1403131"/>
            <a:ext cx="10218555" cy="4773832"/>
          </a:xfrm>
          <a:prstGeom prst="rect">
            <a:avLst/>
          </a:prstGeom>
        </p:spPr>
        <p:txBody>
          <a:bodyPr/>
          <a:lstStyle/>
          <a:p>
            <a:pPr algn="just">
              <a:lnSpc>
                <a:spcPct val="100000"/>
              </a:lnSpc>
              <a:spcBef>
                <a:spcPts val="1400"/>
              </a:spcBef>
            </a:pPr>
            <a:r>
              <a:rPr lang="en-US" sz="2200" dirty="0">
                <a:solidFill>
                  <a:schemeClr val="accent3">
                    <a:lumMod val="25000"/>
                  </a:schemeClr>
                </a:solidFill>
                <a:latin typeface="Abadi" panose="020B0604020104020204" pitchFamily="34" charset="0"/>
              </a:rPr>
              <a:t>The data was collected using various methods</a:t>
            </a:r>
          </a:p>
          <a:p>
            <a:pPr lvl="1" algn="just">
              <a:lnSpc>
                <a:spcPct val="100000"/>
              </a:lnSpc>
              <a:spcBef>
                <a:spcPts val="1400"/>
              </a:spcBef>
              <a:buFontTx/>
              <a:buChar char="-"/>
            </a:pPr>
            <a:r>
              <a:rPr lang="en-US" sz="1900" dirty="0">
                <a:solidFill>
                  <a:schemeClr val="accent3">
                    <a:lumMod val="25000"/>
                  </a:schemeClr>
                </a:solidFill>
                <a:latin typeface="Abadi" panose="020B0604020104020204" pitchFamily="34" charset="0"/>
              </a:rPr>
              <a:t>Data collection was done using get request to the SpaceX API.</a:t>
            </a:r>
          </a:p>
          <a:p>
            <a:pPr lvl="1" algn="just">
              <a:lnSpc>
                <a:spcPct val="100000"/>
              </a:lnSpc>
              <a:spcBef>
                <a:spcPts val="1400"/>
              </a:spcBef>
              <a:buFontTx/>
              <a:buChar char="-"/>
            </a:pPr>
            <a:r>
              <a:rPr lang="en-US" sz="1900" dirty="0">
                <a:solidFill>
                  <a:schemeClr val="accent3">
                    <a:lumMod val="25000"/>
                  </a:schemeClr>
                </a:solidFill>
                <a:latin typeface="Abadi" panose="020B0604020104020204" pitchFamily="34" charset="0"/>
              </a:rPr>
              <a:t>Next, we decoded the response content as a Json using .json() function call and turn it into a pandas </a:t>
            </a:r>
            <a:r>
              <a:rPr lang="en-US" sz="1900" dirty="0" err="1">
                <a:solidFill>
                  <a:schemeClr val="accent3">
                    <a:lumMod val="25000"/>
                  </a:schemeClr>
                </a:solidFill>
                <a:latin typeface="Abadi" panose="020B0604020104020204" pitchFamily="34" charset="0"/>
              </a:rPr>
              <a:t>dataframe</a:t>
            </a:r>
            <a:r>
              <a:rPr lang="en-US" sz="1900" dirty="0">
                <a:solidFill>
                  <a:schemeClr val="accent3">
                    <a:lumMod val="25000"/>
                  </a:schemeClr>
                </a:solidFill>
                <a:latin typeface="Abadi" panose="020B0604020104020204" pitchFamily="34" charset="0"/>
              </a:rPr>
              <a:t> using .</a:t>
            </a:r>
            <a:r>
              <a:rPr lang="en-US" sz="1900" dirty="0" err="1">
                <a:solidFill>
                  <a:schemeClr val="accent3">
                    <a:lumMod val="25000"/>
                  </a:schemeClr>
                </a:solidFill>
                <a:latin typeface="Abadi" panose="020B0604020104020204" pitchFamily="34" charset="0"/>
              </a:rPr>
              <a:t>json_normalize</a:t>
            </a:r>
            <a:r>
              <a:rPr lang="en-US" sz="1900" dirty="0">
                <a:solidFill>
                  <a:schemeClr val="accent3">
                    <a:lumMod val="25000"/>
                  </a:schemeClr>
                </a:solidFill>
                <a:latin typeface="Abadi" panose="020B0604020104020204" pitchFamily="34" charset="0"/>
              </a:rPr>
              <a:t>().</a:t>
            </a:r>
          </a:p>
          <a:p>
            <a:pPr lvl="1" algn="just">
              <a:lnSpc>
                <a:spcPct val="100000"/>
              </a:lnSpc>
              <a:spcBef>
                <a:spcPts val="1400"/>
              </a:spcBef>
              <a:buFontTx/>
              <a:buChar char="-"/>
            </a:pPr>
            <a:r>
              <a:rPr lang="en-US" sz="1900" dirty="0">
                <a:solidFill>
                  <a:schemeClr val="accent3">
                    <a:lumMod val="25000"/>
                  </a:schemeClr>
                </a:solidFill>
                <a:latin typeface="Abadi" panose="020B0604020104020204" pitchFamily="34" charset="0"/>
              </a:rPr>
              <a:t>We then cleaned the data, checked for missing values and fill in missing values where necessary.</a:t>
            </a:r>
          </a:p>
          <a:p>
            <a:pPr lvl="1" algn="just">
              <a:lnSpc>
                <a:spcPct val="100000"/>
              </a:lnSpc>
              <a:spcBef>
                <a:spcPts val="1400"/>
              </a:spcBef>
              <a:buFontTx/>
              <a:buChar char="-"/>
            </a:pPr>
            <a:r>
              <a:rPr lang="en-US" sz="1900" dirty="0">
                <a:solidFill>
                  <a:schemeClr val="accent3">
                    <a:lumMod val="25000"/>
                  </a:schemeClr>
                </a:solidFill>
                <a:latin typeface="Abadi" panose="020B0604020104020204" pitchFamily="34" charset="0"/>
              </a:rPr>
              <a:t>In addition, we performed web scraping from Wikipedia for Falcon 9 launch records with BeautifulSoup. </a:t>
            </a:r>
          </a:p>
          <a:p>
            <a:pPr lvl="1" algn="just">
              <a:lnSpc>
                <a:spcPct val="100000"/>
              </a:lnSpc>
              <a:spcBef>
                <a:spcPts val="1400"/>
              </a:spcBef>
              <a:buFontTx/>
              <a:buChar char="-"/>
            </a:pPr>
            <a:r>
              <a:rPr lang="en-US" sz="1900" dirty="0">
                <a:solidFill>
                  <a:schemeClr val="accent3">
                    <a:lumMod val="25000"/>
                  </a:schemeClr>
                </a:solidFill>
                <a:latin typeface="Abadi" panose="020B0604020104020204" pitchFamily="34" charset="0"/>
              </a:rPr>
              <a:t>The objective was to extract the launch records as HTML table, parse the table and convert it to a pandas </a:t>
            </a:r>
            <a:r>
              <a:rPr lang="en-US" sz="1900" dirty="0" err="1">
                <a:solidFill>
                  <a:schemeClr val="accent3">
                    <a:lumMod val="25000"/>
                  </a:schemeClr>
                </a:solidFill>
                <a:latin typeface="Abadi" panose="020B0604020104020204" pitchFamily="34" charset="0"/>
              </a:rPr>
              <a:t>dataframe</a:t>
            </a:r>
            <a:r>
              <a:rPr lang="en-US" sz="1900" dirty="0">
                <a:solidFill>
                  <a:schemeClr val="accent3">
                    <a:lumMod val="25000"/>
                  </a:schemeClr>
                </a:solidFill>
                <a:latin typeface="Abadi" panose="020B0604020104020204" pitchFamily="34" charset="0"/>
              </a:rPr>
              <a:t> for future analysis.</a:t>
            </a:r>
          </a:p>
          <a:p>
            <a:pPr lvl="1">
              <a:lnSpc>
                <a:spcPct val="100000"/>
              </a:lnSpc>
              <a:spcBef>
                <a:spcPts val="1400"/>
              </a:spcBef>
              <a:buFontTx/>
              <a:buChar char="-"/>
            </a:pPr>
            <a:endParaRPr lang="en-US" sz="1800" dirty="0">
              <a:solidFill>
                <a:schemeClr val="accent3">
                  <a:lumMod val="25000"/>
                </a:schemeClr>
              </a:solidFill>
              <a:latin typeface="Abadi" panose="020B0604020104020204" pitchFamily="34" charset="0"/>
            </a:endParaRPr>
          </a:p>
          <a:p>
            <a:pPr marL="0" indent="0">
              <a:buNone/>
            </a:pPr>
            <a:endParaRPr lang="en-US" dirty="0"/>
          </a:p>
        </p:txBody>
      </p:sp>
      <p:sp>
        <p:nvSpPr>
          <p:cNvPr id="12" name="Title 1">
            <a:extLst>
              <a:ext uri="{FF2B5EF4-FFF2-40B4-BE49-F238E27FC236}">
                <a16:creationId xmlns:a16="http://schemas.microsoft.com/office/drawing/2014/main" id="{D77AC1D2-8B41-4A7A-88CF-41E6B7D8C98D}"/>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Data Collection</a:t>
            </a:r>
            <a:endParaRPr lang="en-US" dirty="0">
              <a:solidFill>
                <a:srgbClr val="0B49CB"/>
              </a:solidFill>
            </a:endParaRPr>
          </a:p>
        </p:txBody>
      </p:sp>
    </p:spTree>
    <p:extLst>
      <p:ext uri="{BB962C8B-B14F-4D97-AF65-F5344CB8AC3E}">
        <p14:creationId xmlns:p14="http://schemas.microsoft.com/office/powerpoint/2010/main" val="32886658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72D0411-8FF8-C540-84AE-DBA0703D368C}"/>
              </a:ext>
            </a:extLst>
          </p:cNvPr>
          <p:cNvSpPr>
            <a:spLocks noGrp="1"/>
          </p:cNvSpPr>
          <p:nvPr>
            <p:ph type="sldNum" sz="quarter" idx="12"/>
          </p:nvPr>
        </p:nvSpPr>
        <p:spPr/>
        <p:txBody>
          <a:bodyPr/>
          <a:lstStyle/>
          <a:p>
            <a:fld id="{5075537C-CA84-1446-933C-8E9D027F9201}" type="slidenum">
              <a:rPr lang="en-US" smtClean="0"/>
              <a:t>8</a:t>
            </a:fld>
            <a:endParaRPr lang="en-US"/>
          </a:p>
        </p:txBody>
      </p:sp>
      <p:sp>
        <p:nvSpPr>
          <p:cNvPr id="3" name="Text Placeholder 2">
            <a:extLst>
              <a:ext uri="{FF2B5EF4-FFF2-40B4-BE49-F238E27FC236}">
                <a16:creationId xmlns:a16="http://schemas.microsoft.com/office/drawing/2014/main" id="{AB0AB2AC-B7E6-6849-9AE9-697369407F8F}"/>
              </a:ext>
            </a:extLst>
          </p:cNvPr>
          <p:cNvSpPr>
            <a:spLocks noGrp="1"/>
          </p:cNvSpPr>
          <p:nvPr>
            <p:ph type="body" sz="half" idx="4294967295"/>
          </p:nvPr>
        </p:nvSpPr>
        <p:spPr>
          <a:xfrm>
            <a:off x="820738" y="1800225"/>
            <a:ext cx="4640263" cy="4225925"/>
          </a:xfrm>
          <a:prstGeom prst="rect">
            <a:avLst/>
          </a:prstGeom>
        </p:spPr>
        <p:txBody>
          <a:bodyPr vert="horz" lIns="91440" tIns="45720" rIns="91440" bIns="45720" rtlCol="0" anchor="t">
            <a:normAutofit/>
          </a:bodyPr>
          <a:lstStyle/>
          <a:p>
            <a:pPr>
              <a:lnSpc>
                <a:spcPct val="100000"/>
              </a:lnSpc>
              <a:spcBef>
                <a:spcPts val="1400"/>
              </a:spcBef>
            </a:pPr>
            <a:r>
              <a:rPr lang="en-US" sz="2200" dirty="0">
                <a:solidFill>
                  <a:schemeClr val="accent3">
                    <a:lumMod val="25000"/>
                  </a:schemeClr>
                </a:solidFill>
                <a:latin typeface="Abadi" panose="020B0604020104020204" pitchFamily="34" charset="0"/>
              </a:rPr>
              <a:t>We used the get request to the SpaceX API to collect data, clean the requested data and did some basic data wrangling and formatting.</a:t>
            </a:r>
            <a:endParaRPr lang="en-US" sz="2200" dirty="0">
              <a:solidFill>
                <a:schemeClr val="accent3">
                  <a:lumMod val="25000"/>
                </a:schemeClr>
              </a:solidFill>
              <a:latin typeface="Abadi"/>
            </a:endParaRPr>
          </a:p>
          <a:p>
            <a:pPr>
              <a:lnSpc>
                <a:spcPct val="100000"/>
              </a:lnSpc>
              <a:spcBef>
                <a:spcPts val="1400"/>
              </a:spcBef>
            </a:pPr>
            <a:r>
              <a:rPr lang="en-US" sz="2200" dirty="0">
                <a:solidFill>
                  <a:schemeClr val="accent3">
                    <a:lumMod val="25000"/>
                  </a:schemeClr>
                </a:solidFill>
                <a:latin typeface="Abadi" panose="020B0604020104020204" pitchFamily="34" charset="0"/>
              </a:rPr>
              <a:t>The link to the notebook is </a:t>
            </a:r>
            <a:r>
              <a:rPr lang="en-US" sz="2200" dirty="0">
                <a:solidFill>
                  <a:srgbClr val="1C7DDB"/>
                </a:solidFill>
                <a:latin typeface="Abadi" panose="020B0604020104020204" pitchFamily="34" charset="0"/>
              </a:rPr>
              <a:t>https://github.com/chuksoo/IBM-Data-Science-Capstone-SpaceX/blob/main/Data%20Collection%20API.ipynb.</a:t>
            </a:r>
            <a:endParaRPr lang="en-US" sz="2200" dirty="0">
              <a:solidFill>
                <a:schemeClr val="accent3">
                  <a:lumMod val="25000"/>
                </a:schemeClr>
              </a:solidFill>
              <a:latin typeface="Abadi" panose="020B0604020104020204" pitchFamily="34" charset="0"/>
            </a:endParaRPr>
          </a:p>
          <a:p>
            <a:endParaRPr lang="en-US" dirty="0"/>
          </a:p>
          <a:p>
            <a:endParaRPr lang="en-US" dirty="0"/>
          </a:p>
        </p:txBody>
      </p:sp>
      <p:sp>
        <p:nvSpPr>
          <p:cNvPr id="4" name="Title 1">
            <a:extLst>
              <a:ext uri="{FF2B5EF4-FFF2-40B4-BE49-F238E27FC236}">
                <a16:creationId xmlns:a16="http://schemas.microsoft.com/office/drawing/2014/main" id="{5066AA34-20EE-4A59-B343-346A8DB5667C}"/>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Data Collection – SpaceX API</a:t>
            </a:r>
          </a:p>
        </p:txBody>
      </p:sp>
      <p:pic>
        <p:nvPicPr>
          <p:cNvPr id="9" name="Picture 8">
            <a:extLst>
              <a:ext uri="{FF2B5EF4-FFF2-40B4-BE49-F238E27FC236}">
                <a16:creationId xmlns:a16="http://schemas.microsoft.com/office/drawing/2014/main" id="{61E4AF22-EFED-4B80-BCDB-9BE50C288589}"/>
              </a:ext>
            </a:extLst>
          </p:cNvPr>
          <p:cNvPicPr>
            <a:picLocks noChangeAspect="1"/>
          </p:cNvPicPr>
          <p:nvPr/>
        </p:nvPicPr>
        <p:blipFill>
          <a:blip r:embed="rId3"/>
          <a:stretch>
            <a:fillRect/>
          </a:stretch>
        </p:blipFill>
        <p:spPr>
          <a:xfrm>
            <a:off x="6518511" y="1499088"/>
            <a:ext cx="4861273" cy="4527062"/>
          </a:xfrm>
          <a:prstGeom prst="rect">
            <a:avLst/>
          </a:prstGeom>
        </p:spPr>
      </p:pic>
    </p:spTree>
    <p:extLst>
      <p:ext uri="{BB962C8B-B14F-4D97-AF65-F5344CB8AC3E}">
        <p14:creationId xmlns:p14="http://schemas.microsoft.com/office/powerpoint/2010/main" val="2803160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72D0411-8FF8-C540-84AE-DBA0703D368C}"/>
              </a:ext>
            </a:extLst>
          </p:cNvPr>
          <p:cNvSpPr>
            <a:spLocks noGrp="1"/>
          </p:cNvSpPr>
          <p:nvPr>
            <p:ph type="sldNum" sz="quarter" idx="12"/>
          </p:nvPr>
        </p:nvSpPr>
        <p:spPr/>
        <p:txBody>
          <a:bodyPr/>
          <a:lstStyle/>
          <a:p>
            <a:fld id="{5075537C-CA84-1446-933C-8E9D027F9201}" type="slidenum">
              <a:rPr lang="en-US" smtClean="0"/>
              <a:t>9</a:t>
            </a:fld>
            <a:endParaRPr lang="en-US"/>
          </a:p>
        </p:txBody>
      </p:sp>
      <p:sp>
        <p:nvSpPr>
          <p:cNvPr id="3" name="Text Placeholder 2">
            <a:extLst>
              <a:ext uri="{FF2B5EF4-FFF2-40B4-BE49-F238E27FC236}">
                <a16:creationId xmlns:a16="http://schemas.microsoft.com/office/drawing/2014/main" id="{AB0AB2AC-B7E6-6849-9AE9-697369407F8F}"/>
              </a:ext>
            </a:extLst>
          </p:cNvPr>
          <p:cNvSpPr>
            <a:spLocks noGrp="1"/>
          </p:cNvSpPr>
          <p:nvPr>
            <p:ph type="body" sz="half" idx="4294967295"/>
          </p:nvPr>
        </p:nvSpPr>
        <p:spPr>
          <a:xfrm>
            <a:off x="820738" y="1477108"/>
            <a:ext cx="4655614" cy="4689842"/>
          </a:xfrm>
          <a:prstGeom prst="rect">
            <a:avLst/>
          </a:prstGeom>
        </p:spPr>
        <p:txBody>
          <a:bodyPr lIns="91440" tIns="45720" rIns="91440" bIns="45720" anchor="t">
            <a:noAutofit/>
          </a:bodyPr>
          <a:lstStyle/>
          <a:p>
            <a:pPr>
              <a:lnSpc>
                <a:spcPct val="100000"/>
              </a:lnSpc>
              <a:spcBef>
                <a:spcPts val="1400"/>
              </a:spcBef>
            </a:pPr>
            <a:r>
              <a:rPr lang="en-US" sz="2200" dirty="0">
                <a:solidFill>
                  <a:schemeClr val="accent3">
                    <a:lumMod val="25000"/>
                  </a:schemeClr>
                </a:solidFill>
                <a:latin typeface="Abadi"/>
              </a:rPr>
              <a:t>We applied web scrapping to webscrap Falcon 9 launch records with BeautifulSoup </a:t>
            </a:r>
          </a:p>
          <a:p>
            <a:pPr>
              <a:lnSpc>
                <a:spcPct val="100000"/>
              </a:lnSpc>
              <a:spcBef>
                <a:spcPts val="1400"/>
              </a:spcBef>
            </a:pPr>
            <a:r>
              <a:rPr lang="en-US" sz="2200" dirty="0">
                <a:solidFill>
                  <a:schemeClr val="accent3">
                    <a:lumMod val="25000"/>
                  </a:schemeClr>
                </a:solidFill>
                <a:latin typeface="Abadi"/>
              </a:rPr>
              <a:t>We parsed the table and converted it into a pandas dataframe.</a:t>
            </a:r>
            <a:endParaRPr lang="en-US" sz="2200" dirty="0">
              <a:solidFill>
                <a:schemeClr val="accent3">
                  <a:lumMod val="25000"/>
                </a:schemeClr>
              </a:solidFill>
              <a:latin typeface="Abadi" panose="020B0604020104020204" pitchFamily="34" charset="0"/>
            </a:endParaRPr>
          </a:p>
          <a:p>
            <a:pPr>
              <a:lnSpc>
                <a:spcPct val="100000"/>
              </a:lnSpc>
              <a:spcBef>
                <a:spcPts val="1400"/>
              </a:spcBef>
            </a:pPr>
            <a:r>
              <a:rPr lang="en-US" sz="2200" dirty="0">
                <a:solidFill>
                  <a:schemeClr val="accent3">
                    <a:lumMod val="25000"/>
                  </a:schemeClr>
                </a:solidFill>
                <a:latin typeface="Abadi" panose="020B0604020104020204" pitchFamily="34" charset="0"/>
              </a:rPr>
              <a:t>The link to the notebook is </a:t>
            </a:r>
            <a:r>
              <a:rPr lang="en-US" sz="2200" dirty="0">
                <a:solidFill>
                  <a:srgbClr val="1C7DDB"/>
                </a:solidFill>
                <a:latin typeface="Abadi" panose="020B0604020104020204" pitchFamily="34" charset="0"/>
              </a:rPr>
              <a:t>https://github.com/chuksoo/IBM-Data-Science-Capstone-SpaceX/blob/main/Data%20Collection%20with%20Web%20Scraping.ipynb.</a:t>
            </a:r>
            <a:endParaRPr lang="en-US" sz="2200" dirty="0">
              <a:solidFill>
                <a:schemeClr val="accent3">
                  <a:lumMod val="25000"/>
                </a:schemeClr>
              </a:solidFill>
              <a:latin typeface="Abadi" panose="020B0604020104020204" pitchFamily="34" charset="0"/>
            </a:endParaRPr>
          </a:p>
        </p:txBody>
      </p:sp>
      <p:sp>
        <p:nvSpPr>
          <p:cNvPr id="4" name="Title 1">
            <a:extLst>
              <a:ext uri="{FF2B5EF4-FFF2-40B4-BE49-F238E27FC236}">
                <a16:creationId xmlns:a16="http://schemas.microsoft.com/office/drawing/2014/main" id="{6B84506E-0B2F-4BA8-892E-8CE3753AF954}"/>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endParaRPr lang="en-US">
              <a:solidFill>
                <a:srgbClr val="1C7DDB"/>
              </a:solidFill>
              <a:latin typeface="Abadi"/>
            </a:endParaRPr>
          </a:p>
        </p:txBody>
      </p:sp>
      <p:sp>
        <p:nvSpPr>
          <p:cNvPr id="11" name="Title 1">
            <a:extLst>
              <a:ext uri="{FF2B5EF4-FFF2-40B4-BE49-F238E27FC236}">
                <a16:creationId xmlns:a16="http://schemas.microsoft.com/office/drawing/2014/main" id="{84F5ABFD-B4D4-43FF-959F-AFAF45B45269}"/>
              </a:ext>
            </a:extLst>
          </p:cNvPr>
          <p:cNvSpPr txBox="1">
            <a:spLocks/>
          </p:cNvSpPr>
          <p:nvPr/>
        </p:nvSpPr>
        <p:spPr>
          <a:xfrm>
            <a:off x="922411" y="6910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Data Collection - Scraping</a:t>
            </a:r>
            <a:endParaRPr lang="en-US" dirty="0">
              <a:solidFill>
                <a:srgbClr val="0B49CB"/>
              </a:solidFill>
            </a:endParaRPr>
          </a:p>
        </p:txBody>
      </p:sp>
      <p:sp>
        <p:nvSpPr>
          <p:cNvPr id="2" name="Content Placeholder 4">
            <a:extLst>
              <a:ext uri="{FF2B5EF4-FFF2-40B4-BE49-F238E27FC236}">
                <a16:creationId xmlns:a16="http://schemas.microsoft.com/office/drawing/2014/main" id="{8B78C759-C687-440F-8CAE-D3071F1AB630}"/>
              </a:ext>
            </a:extLst>
          </p:cNvPr>
          <p:cNvSpPr txBox="1">
            <a:spLocks/>
          </p:cNvSpPr>
          <p:nvPr/>
        </p:nvSpPr>
        <p:spPr>
          <a:xfrm>
            <a:off x="5910262" y="1477108"/>
            <a:ext cx="4556797" cy="4689842"/>
          </a:xfrm>
          <a:prstGeom prst="rect">
            <a:avLst/>
          </a:prstGeom>
          <a:ln>
            <a:solidFill>
              <a:srgbClr val="0B49CB"/>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2200" dirty="0">
              <a:solidFill>
                <a:srgbClr val="1C7DDB"/>
              </a:solidFill>
              <a:latin typeface="Abadi"/>
            </a:endParaRPr>
          </a:p>
          <a:p>
            <a:pPr marL="0" indent="0">
              <a:buFont typeface="Arial" panose="020B0604020202020204" pitchFamily="34" charset="0"/>
              <a:buNone/>
            </a:pPr>
            <a:endParaRPr lang="en-US" sz="2200" dirty="0">
              <a:solidFill>
                <a:srgbClr val="1C7DDB"/>
              </a:solidFill>
              <a:latin typeface="Abadi"/>
            </a:endParaRPr>
          </a:p>
          <a:p>
            <a:pPr marL="0" indent="0">
              <a:buFont typeface="Arial" panose="020B0604020202020204" pitchFamily="34" charset="0"/>
              <a:buNone/>
            </a:pPr>
            <a:endParaRPr lang="en-US" sz="2200" dirty="0">
              <a:solidFill>
                <a:srgbClr val="1C7DDB"/>
              </a:solidFill>
              <a:latin typeface="Abadi"/>
            </a:endParaRPr>
          </a:p>
          <a:p>
            <a:pPr marL="0" indent="0">
              <a:buFont typeface="Arial" panose="020B0604020202020204" pitchFamily="34" charset="0"/>
              <a:buNone/>
            </a:pPr>
            <a:endParaRPr lang="en-US" sz="2200" dirty="0">
              <a:solidFill>
                <a:srgbClr val="1C7DDB"/>
              </a:solidFill>
              <a:latin typeface="Abadi"/>
            </a:endParaRPr>
          </a:p>
        </p:txBody>
      </p:sp>
      <p:pic>
        <p:nvPicPr>
          <p:cNvPr id="7" name="Picture 6">
            <a:extLst>
              <a:ext uri="{FF2B5EF4-FFF2-40B4-BE49-F238E27FC236}">
                <a16:creationId xmlns:a16="http://schemas.microsoft.com/office/drawing/2014/main" id="{11B286EC-90E5-482C-9C00-C353EE9D2862}"/>
              </a:ext>
            </a:extLst>
          </p:cNvPr>
          <p:cNvPicPr>
            <a:picLocks noChangeAspect="1"/>
          </p:cNvPicPr>
          <p:nvPr/>
        </p:nvPicPr>
        <p:blipFill>
          <a:blip r:embed="rId3"/>
          <a:stretch>
            <a:fillRect/>
          </a:stretch>
        </p:blipFill>
        <p:spPr>
          <a:xfrm>
            <a:off x="5910262" y="1447559"/>
            <a:ext cx="4655614" cy="4778833"/>
          </a:xfrm>
          <a:prstGeom prst="rect">
            <a:avLst/>
          </a:prstGeom>
        </p:spPr>
      </p:pic>
    </p:spTree>
    <p:extLst>
      <p:ext uri="{BB962C8B-B14F-4D97-AF65-F5344CB8AC3E}">
        <p14:creationId xmlns:p14="http://schemas.microsoft.com/office/powerpoint/2010/main" val="13855539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E021CA9-7CB7-1046-8FA0-21F127C19A59}"/>
              </a:ext>
            </a:extLst>
          </p:cNvPr>
          <p:cNvSpPr>
            <a:spLocks noGrp="1"/>
          </p:cNvSpPr>
          <p:nvPr>
            <p:ph type="sldNum" sz="quarter" idx="12"/>
          </p:nvPr>
        </p:nvSpPr>
        <p:spPr/>
        <p:txBody>
          <a:bodyPr/>
          <a:lstStyle/>
          <a:p>
            <a:fld id="{5075537C-CA84-1446-933C-8E9D027F9201}" type="slidenum">
              <a:rPr lang="en-US" smtClean="0"/>
              <a:t>10</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6027812" y="1486343"/>
            <a:ext cx="5430160" cy="4740049"/>
          </a:xfrm>
          <a:prstGeom prst="rect">
            <a:avLst/>
          </a:prstGeom>
        </p:spPr>
        <p:txBody>
          <a:bodyPr/>
          <a:lstStyle/>
          <a:p>
            <a:r>
              <a:rPr lang="en-US" sz="2200" dirty="0">
                <a:solidFill>
                  <a:schemeClr val="accent3">
                    <a:lumMod val="25000"/>
                  </a:schemeClr>
                </a:solidFill>
                <a:latin typeface="Abadi" panose="020B0604020104020204" pitchFamily="34" charset="0"/>
              </a:rPr>
              <a:t>We performed exploratory data analysis and determined the training labels.</a:t>
            </a:r>
          </a:p>
          <a:p>
            <a:r>
              <a:rPr lang="en-US" sz="2200" dirty="0">
                <a:solidFill>
                  <a:schemeClr val="accent3">
                    <a:lumMod val="25000"/>
                  </a:schemeClr>
                </a:solidFill>
                <a:latin typeface="Abadi" panose="020B0604020104020204" pitchFamily="34" charset="0"/>
              </a:rPr>
              <a:t>We calculated the number of launches at each site, and the number and occurrence of each orbits</a:t>
            </a:r>
          </a:p>
          <a:p>
            <a:r>
              <a:rPr lang="en-US" sz="2200" dirty="0">
                <a:solidFill>
                  <a:schemeClr val="accent3">
                    <a:lumMod val="25000"/>
                  </a:schemeClr>
                </a:solidFill>
                <a:latin typeface="Abadi" panose="020B0604020104020204" pitchFamily="34" charset="0"/>
              </a:rPr>
              <a:t>We created landing outcome label from outcome column and exported the results to csv.</a:t>
            </a:r>
          </a:p>
          <a:p>
            <a:pPr>
              <a:lnSpc>
                <a:spcPct val="100000"/>
              </a:lnSpc>
              <a:spcBef>
                <a:spcPts val="1400"/>
              </a:spcBef>
            </a:pPr>
            <a:r>
              <a:rPr lang="en-US" sz="2200" dirty="0">
                <a:solidFill>
                  <a:schemeClr val="accent3">
                    <a:lumMod val="25000"/>
                  </a:schemeClr>
                </a:solidFill>
                <a:latin typeface="Abadi" panose="020B0604020104020204" pitchFamily="34" charset="0"/>
              </a:rPr>
              <a:t>The link to the notebook is </a:t>
            </a:r>
            <a:r>
              <a:rPr lang="en-US" sz="2200" dirty="0">
                <a:solidFill>
                  <a:srgbClr val="1C7DDB"/>
                </a:solidFill>
                <a:latin typeface="Abadi" panose="020B0604020104020204" pitchFamily="34" charset="0"/>
              </a:rPr>
              <a:t>https://github.com/chuksoo/IBM-Data-Science-Capstone-SpaceX/blob/main/Data%20Wrangling.ipynb.</a:t>
            </a:r>
            <a:endParaRPr lang="en-US" dirty="0"/>
          </a:p>
          <a:p>
            <a:endParaRPr lang="en-US" dirty="0"/>
          </a:p>
          <a:p>
            <a:endParaRPr lang="en-US" dirty="0"/>
          </a:p>
        </p:txBody>
      </p:sp>
      <p:sp>
        <p:nvSpPr>
          <p:cNvPr id="8" name="Title 1">
            <a:extLst>
              <a:ext uri="{FF2B5EF4-FFF2-40B4-BE49-F238E27FC236}">
                <a16:creationId xmlns:a16="http://schemas.microsoft.com/office/drawing/2014/main" id="{2A665A13-3129-46DF-B847-F273F3E96BE6}"/>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Data Wrangling</a:t>
            </a:r>
          </a:p>
        </p:txBody>
      </p:sp>
      <p:sp>
        <p:nvSpPr>
          <p:cNvPr id="6" name="Content Placeholder 4">
            <a:extLst>
              <a:ext uri="{FF2B5EF4-FFF2-40B4-BE49-F238E27FC236}">
                <a16:creationId xmlns:a16="http://schemas.microsoft.com/office/drawing/2014/main" id="{1AEBEDB3-10BF-40B9-A714-3EA82B83C2C9}"/>
              </a:ext>
            </a:extLst>
          </p:cNvPr>
          <p:cNvSpPr txBox="1">
            <a:spLocks/>
          </p:cNvSpPr>
          <p:nvPr/>
        </p:nvSpPr>
        <p:spPr>
          <a:xfrm>
            <a:off x="838200" y="1486343"/>
            <a:ext cx="5257800" cy="474004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a:p>
            <a:endParaRPr lang="en-US" dirty="0"/>
          </a:p>
          <a:p>
            <a:endParaRPr lang="en-US" dirty="0"/>
          </a:p>
        </p:txBody>
      </p:sp>
      <p:pic>
        <p:nvPicPr>
          <p:cNvPr id="3" name="Picture 2">
            <a:extLst>
              <a:ext uri="{FF2B5EF4-FFF2-40B4-BE49-F238E27FC236}">
                <a16:creationId xmlns:a16="http://schemas.microsoft.com/office/drawing/2014/main" id="{16872C39-302A-4BF9-861E-5D427E17530D}"/>
              </a:ext>
            </a:extLst>
          </p:cNvPr>
          <p:cNvPicPr>
            <a:picLocks noChangeAspect="1"/>
          </p:cNvPicPr>
          <p:nvPr/>
        </p:nvPicPr>
        <p:blipFill>
          <a:blip r:embed="rId3"/>
          <a:stretch>
            <a:fillRect/>
          </a:stretch>
        </p:blipFill>
        <p:spPr>
          <a:xfrm>
            <a:off x="838201" y="1488855"/>
            <a:ext cx="5017252" cy="3986526"/>
          </a:xfrm>
          <a:prstGeom prst="rect">
            <a:avLst/>
          </a:prstGeom>
        </p:spPr>
      </p:pic>
    </p:spTree>
    <p:extLst>
      <p:ext uri="{BB962C8B-B14F-4D97-AF65-F5344CB8AC3E}">
        <p14:creationId xmlns:p14="http://schemas.microsoft.com/office/powerpoint/2010/main" val="29875529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C4E03D3-761E-7549-A4C6-7E585EBC4F01}"/>
              </a:ext>
            </a:extLst>
          </p:cNvPr>
          <p:cNvSpPr>
            <a:spLocks noGrp="1"/>
          </p:cNvSpPr>
          <p:nvPr>
            <p:ph type="sldNum" sz="quarter" idx="12"/>
          </p:nvPr>
        </p:nvSpPr>
        <p:spPr>
          <a:xfrm>
            <a:off x="8714772" y="6433577"/>
            <a:ext cx="2743200" cy="401638"/>
          </a:xfrm>
        </p:spPr>
        <p:txBody>
          <a:bodyPr/>
          <a:lstStyle/>
          <a:p>
            <a:fld id="{5075537C-CA84-1446-933C-8E9D027F9201}" type="slidenum">
              <a:rPr lang="en-US" smtClean="0"/>
              <a:t>11</a:t>
            </a:fld>
            <a:endParaRPr lang="en-US" dirty="0"/>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495703"/>
            <a:ext cx="4987333" cy="4931508"/>
          </a:xfrm>
          <a:prstGeom prst="rect">
            <a:avLst/>
          </a:prstGeom>
        </p:spPr>
        <p:txBody>
          <a:bodyPr lIns="91440" tIns="45720" rIns="91440" bIns="45720" anchor="t"/>
          <a:lstStyle/>
          <a:p>
            <a:pPr>
              <a:lnSpc>
                <a:spcPct val="100000"/>
              </a:lnSpc>
              <a:spcBef>
                <a:spcPts val="1400"/>
              </a:spcBef>
            </a:pPr>
            <a:r>
              <a:rPr lang="en-US" sz="2200" dirty="0">
                <a:solidFill>
                  <a:schemeClr val="accent3">
                    <a:lumMod val="25000"/>
                  </a:schemeClr>
                </a:solidFill>
                <a:latin typeface="Abadi"/>
              </a:rPr>
              <a:t>We explored the data by visualizing the relationship between flight number and launch Site, payload and launch site, success rate of each orbit type, flight number and orbit type, the launch success yearly trend. </a:t>
            </a:r>
            <a:endParaRPr lang="en-US" sz="2200" dirty="0">
              <a:solidFill>
                <a:schemeClr val="accent3">
                  <a:lumMod val="25000"/>
                </a:schemeClr>
              </a:solidFill>
              <a:latin typeface="Abadi" panose="020B0604020104020204" pitchFamily="34" charset="0"/>
            </a:endParaRPr>
          </a:p>
          <a:p>
            <a:endParaRPr lang="en-US" dirty="0"/>
          </a:p>
        </p:txBody>
      </p:sp>
      <p:sp>
        <p:nvSpPr>
          <p:cNvPr id="3" name="Title 1">
            <a:extLst>
              <a:ext uri="{FF2B5EF4-FFF2-40B4-BE49-F238E27FC236}">
                <a16:creationId xmlns:a16="http://schemas.microsoft.com/office/drawing/2014/main" id="{D9E97D81-A978-4758-8A93-47C19B104075}"/>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EDA with Data Visualization</a:t>
            </a:r>
          </a:p>
        </p:txBody>
      </p:sp>
      <p:sp>
        <p:nvSpPr>
          <p:cNvPr id="6" name="Content Placeholder 4">
            <a:extLst>
              <a:ext uri="{FF2B5EF4-FFF2-40B4-BE49-F238E27FC236}">
                <a16:creationId xmlns:a16="http://schemas.microsoft.com/office/drawing/2014/main" id="{A7F21014-C317-418E-8F64-D22C9E0DACF2}"/>
              </a:ext>
            </a:extLst>
          </p:cNvPr>
          <p:cNvSpPr txBox="1">
            <a:spLocks/>
          </p:cNvSpPr>
          <p:nvPr/>
        </p:nvSpPr>
        <p:spPr>
          <a:xfrm>
            <a:off x="6096000" y="1495703"/>
            <a:ext cx="5189611" cy="4931508"/>
          </a:xfrm>
          <a:prstGeom prst="rect">
            <a:avLst/>
          </a:prstGeom>
        </p:spPr>
        <p:txBody>
          <a:bodyPr lIns="91440" tIns="45720" rIns="91440" bIns="45720"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1400"/>
              </a:spcBef>
            </a:pPr>
            <a:endParaRPr lang="en-US" sz="2200" dirty="0">
              <a:solidFill>
                <a:schemeClr val="accent3">
                  <a:lumMod val="25000"/>
                </a:schemeClr>
              </a:solidFill>
              <a:latin typeface="Abadi" panose="020B0604020104020204" pitchFamily="34" charset="0"/>
            </a:endParaRPr>
          </a:p>
          <a:p>
            <a:pPr>
              <a:lnSpc>
                <a:spcPct val="100000"/>
              </a:lnSpc>
              <a:spcBef>
                <a:spcPts val="1400"/>
              </a:spcBef>
            </a:pPr>
            <a:endParaRPr lang="en-US" sz="2200" dirty="0">
              <a:solidFill>
                <a:schemeClr val="accent3">
                  <a:lumMod val="25000"/>
                </a:schemeClr>
              </a:solidFill>
              <a:latin typeface="Abadi" panose="020B0604020104020204" pitchFamily="34" charset="0"/>
            </a:endParaRPr>
          </a:p>
          <a:p>
            <a:pPr>
              <a:lnSpc>
                <a:spcPct val="100000"/>
              </a:lnSpc>
              <a:spcBef>
                <a:spcPts val="1400"/>
              </a:spcBef>
            </a:pPr>
            <a:endParaRPr lang="en-US" sz="2200" dirty="0">
              <a:solidFill>
                <a:schemeClr val="accent3">
                  <a:lumMod val="25000"/>
                </a:schemeClr>
              </a:solidFill>
              <a:latin typeface="Abadi" panose="020B0604020104020204" pitchFamily="34" charset="0"/>
            </a:endParaRPr>
          </a:p>
          <a:p>
            <a:pPr>
              <a:lnSpc>
                <a:spcPct val="100000"/>
              </a:lnSpc>
              <a:spcBef>
                <a:spcPts val="1400"/>
              </a:spcBef>
            </a:pPr>
            <a:endParaRPr lang="en-US" sz="2200" dirty="0">
              <a:solidFill>
                <a:schemeClr val="accent3">
                  <a:lumMod val="25000"/>
                </a:schemeClr>
              </a:solidFill>
              <a:latin typeface="Abadi" panose="020B0604020104020204" pitchFamily="34" charset="0"/>
            </a:endParaRPr>
          </a:p>
          <a:p>
            <a:pPr>
              <a:lnSpc>
                <a:spcPct val="100000"/>
              </a:lnSpc>
              <a:spcBef>
                <a:spcPts val="1400"/>
              </a:spcBef>
            </a:pPr>
            <a:endParaRPr lang="en-US" sz="2200" dirty="0">
              <a:solidFill>
                <a:schemeClr val="accent3">
                  <a:lumMod val="25000"/>
                </a:schemeClr>
              </a:solidFill>
              <a:latin typeface="Abadi" panose="020B0604020104020204" pitchFamily="34" charset="0"/>
            </a:endParaRPr>
          </a:p>
          <a:p>
            <a:pPr>
              <a:lnSpc>
                <a:spcPct val="100000"/>
              </a:lnSpc>
              <a:spcBef>
                <a:spcPts val="1400"/>
              </a:spcBef>
            </a:pPr>
            <a:endParaRPr lang="en-US" sz="2200" dirty="0">
              <a:solidFill>
                <a:schemeClr val="accent3">
                  <a:lumMod val="25000"/>
                </a:schemeClr>
              </a:solidFill>
              <a:latin typeface="Abadi" panose="020B0604020104020204" pitchFamily="34" charset="0"/>
            </a:endParaRPr>
          </a:p>
          <a:p>
            <a:pPr>
              <a:lnSpc>
                <a:spcPct val="100000"/>
              </a:lnSpc>
              <a:spcBef>
                <a:spcPts val="1400"/>
              </a:spcBef>
            </a:pPr>
            <a:r>
              <a:rPr lang="en-US" sz="2200" dirty="0">
                <a:solidFill>
                  <a:schemeClr val="accent3">
                    <a:lumMod val="25000"/>
                  </a:schemeClr>
                </a:solidFill>
                <a:latin typeface="Abadi" panose="020B0604020104020204" pitchFamily="34" charset="0"/>
              </a:rPr>
              <a:t>The link to the notebook is </a:t>
            </a:r>
            <a:r>
              <a:rPr lang="en-US" sz="2200" dirty="0">
                <a:solidFill>
                  <a:srgbClr val="1C7DDB"/>
                </a:solidFill>
                <a:latin typeface="Abadi" panose="020B0604020104020204" pitchFamily="34" charset="0"/>
              </a:rPr>
              <a:t>https://github.com/chuksoo/IBM-Data-Science-Capstone-SpaceX/blob/main/EDA%20with%20Data%20Visualization.ipynb</a:t>
            </a:r>
            <a:endParaRPr lang="en-US" dirty="0"/>
          </a:p>
        </p:txBody>
      </p:sp>
      <p:pic>
        <p:nvPicPr>
          <p:cNvPr id="7" name="Picture 6">
            <a:extLst>
              <a:ext uri="{FF2B5EF4-FFF2-40B4-BE49-F238E27FC236}">
                <a16:creationId xmlns:a16="http://schemas.microsoft.com/office/drawing/2014/main" id="{A057CF71-3EE2-44BF-9595-C18CAEFC4E4D}"/>
              </a:ext>
            </a:extLst>
          </p:cNvPr>
          <p:cNvPicPr>
            <a:picLocks noChangeAspect="1"/>
          </p:cNvPicPr>
          <p:nvPr/>
        </p:nvPicPr>
        <p:blipFill>
          <a:blip r:embed="rId3"/>
          <a:stretch>
            <a:fillRect/>
          </a:stretch>
        </p:blipFill>
        <p:spPr>
          <a:xfrm>
            <a:off x="770011" y="3669829"/>
            <a:ext cx="5000794" cy="2757382"/>
          </a:xfrm>
          <a:prstGeom prst="rect">
            <a:avLst/>
          </a:prstGeom>
        </p:spPr>
      </p:pic>
      <p:pic>
        <p:nvPicPr>
          <p:cNvPr id="9" name="Picture 8">
            <a:extLst>
              <a:ext uri="{FF2B5EF4-FFF2-40B4-BE49-F238E27FC236}">
                <a16:creationId xmlns:a16="http://schemas.microsoft.com/office/drawing/2014/main" id="{FC3F8E94-53AE-4C70-AB1E-27F399939A53}"/>
              </a:ext>
            </a:extLst>
          </p:cNvPr>
          <p:cNvPicPr>
            <a:picLocks noChangeAspect="1"/>
          </p:cNvPicPr>
          <p:nvPr/>
        </p:nvPicPr>
        <p:blipFill>
          <a:blip r:embed="rId4"/>
          <a:stretch>
            <a:fillRect/>
          </a:stretch>
        </p:blipFill>
        <p:spPr>
          <a:xfrm>
            <a:off x="6096000" y="1495703"/>
            <a:ext cx="5189612" cy="2965765"/>
          </a:xfrm>
          <a:prstGeom prst="rect">
            <a:avLst/>
          </a:prstGeom>
        </p:spPr>
      </p:pic>
    </p:spTree>
    <p:extLst>
      <p:ext uri="{BB962C8B-B14F-4D97-AF65-F5344CB8AC3E}">
        <p14:creationId xmlns:p14="http://schemas.microsoft.com/office/powerpoint/2010/main" val="7799716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17B1B70-690D-5945-90C2-196E1304B45D}"/>
              </a:ext>
            </a:extLst>
          </p:cNvPr>
          <p:cNvSpPr>
            <a:spLocks noGrp="1"/>
          </p:cNvSpPr>
          <p:nvPr>
            <p:ph type="sldNum" sz="quarter" idx="12"/>
          </p:nvPr>
        </p:nvSpPr>
        <p:spPr/>
        <p:txBody>
          <a:bodyPr/>
          <a:lstStyle/>
          <a:p>
            <a:fld id="{5075537C-CA84-1446-933C-8E9D027F9201}" type="slidenum">
              <a:rPr lang="en-US" smtClean="0"/>
              <a:t>12</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396721"/>
            <a:ext cx="9745589" cy="4761192"/>
          </a:xfrm>
          <a:prstGeom prst="rect">
            <a:avLst/>
          </a:prstGeom>
        </p:spPr>
        <p:txBody>
          <a:bodyPr lIns="91440" tIns="45720" rIns="91440" bIns="45720" anchor="t"/>
          <a:lstStyle/>
          <a:p>
            <a:pPr>
              <a:lnSpc>
                <a:spcPct val="100000"/>
              </a:lnSpc>
              <a:spcBef>
                <a:spcPts val="1400"/>
              </a:spcBef>
            </a:pPr>
            <a:r>
              <a:rPr lang="en-US" sz="2200" dirty="0">
                <a:solidFill>
                  <a:schemeClr val="accent3">
                    <a:lumMod val="25000"/>
                  </a:schemeClr>
                </a:solidFill>
                <a:latin typeface="Abadi"/>
              </a:rPr>
              <a:t>We loaded the SpaceX dataset into a PostgreSQL database without leaving the </a:t>
            </a:r>
            <a:r>
              <a:rPr lang="en-US" sz="2200" dirty="0" err="1">
                <a:solidFill>
                  <a:schemeClr val="accent3">
                    <a:lumMod val="25000"/>
                  </a:schemeClr>
                </a:solidFill>
                <a:latin typeface="Abadi"/>
              </a:rPr>
              <a:t>jupyter</a:t>
            </a:r>
            <a:r>
              <a:rPr lang="en-US" sz="2200" dirty="0">
                <a:solidFill>
                  <a:schemeClr val="accent3">
                    <a:lumMod val="25000"/>
                  </a:schemeClr>
                </a:solidFill>
                <a:latin typeface="Abadi"/>
              </a:rPr>
              <a:t> notebook.</a:t>
            </a:r>
          </a:p>
          <a:p>
            <a:pPr>
              <a:lnSpc>
                <a:spcPct val="100000"/>
              </a:lnSpc>
              <a:spcBef>
                <a:spcPts val="1400"/>
              </a:spcBef>
            </a:pPr>
            <a:r>
              <a:rPr lang="en-US" sz="2200" dirty="0">
                <a:solidFill>
                  <a:schemeClr val="accent3">
                    <a:lumMod val="25000"/>
                  </a:schemeClr>
                </a:solidFill>
                <a:latin typeface="Abadi"/>
              </a:rPr>
              <a:t>We applied EDA with SQL to get insight from the data. We wrote queries to find out for instance:</a:t>
            </a:r>
          </a:p>
          <a:p>
            <a:pPr lvl="1">
              <a:lnSpc>
                <a:spcPct val="100000"/>
              </a:lnSpc>
              <a:spcBef>
                <a:spcPts val="1400"/>
              </a:spcBef>
              <a:buFontTx/>
              <a:buChar char="-"/>
            </a:pPr>
            <a:r>
              <a:rPr lang="en-US" sz="1700" dirty="0">
                <a:solidFill>
                  <a:schemeClr val="bg2">
                    <a:lumMod val="50000"/>
                  </a:schemeClr>
                </a:solidFill>
                <a:latin typeface="Abadi"/>
              </a:rPr>
              <a:t>The names of unique launch sites in the space mission.</a:t>
            </a:r>
          </a:p>
          <a:p>
            <a:pPr lvl="1">
              <a:lnSpc>
                <a:spcPct val="100000"/>
              </a:lnSpc>
              <a:spcBef>
                <a:spcPts val="1400"/>
              </a:spcBef>
              <a:buFontTx/>
              <a:buChar char="-"/>
            </a:pPr>
            <a:r>
              <a:rPr lang="en-US" sz="1700" dirty="0">
                <a:solidFill>
                  <a:schemeClr val="bg2">
                    <a:lumMod val="50000"/>
                  </a:schemeClr>
                </a:solidFill>
                <a:latin typeface="Abadi"/>
              </a:rPr>
              <a:t>The total payload mass carried by boosters launched by NASA (CRS)</a:t>
            </a:r>
          </a:p>
          <a:p>
            <a:pPr lvl="1">
              <a:lnSpc>
                <a:spcPct val="100000"/>
              </a:lnSpc>
              <a:spcBef>
                <a:spcPts val="1400"/>
              </a:spcBef>
              <a:buFontTx/>
              <a:buChar char="-"/>
            </a:pPr>
            <a:r>
              <a:rPr lang="en-US" sz="1700" dirty="0">
                <a:solidFill>
                  <a:schemeClr val="bg2">
                    <a:lumMod val="50000"/>
                  </a:schemeClr>
                </a:solidFill>
                <a:latin typeface="Abadi"/>
              </a:rPr>
              <a:t>The average payload mass carried by booster version F9 v1.1</a:t>
            </a:r>
          </a:p>
          <a:p>
            <a:pPr lvl="1">
              <a:lnSpc>
                <a:spcPct val="100000"/>
              </a:lnSpc>
              <a:spcBef>
                <a:spcPts val="1400"/>
              </a:spcBef>
              <a:buFontTx/>
              <a:buChar char="-"/>
            </a:pPr>
            <a:r>
              <a:rPr lang="en-US" sz="1700" dirty="0">
                <a:solidFill>
                  <a:schemeClr val="bg2">
                    <a:lumMod val="50000"/>
                  </a:schemeClr>
                </a:solidFill>
                <a:latin typeface="Abadi"/>
              </a:rPr>
              <a:t>The total number of successful and failure mission outcomes</a:t>
            </a:r>
          </a:p>
          <a:p>
            <a:pPr lvl="1">
              <a:lnSpc>
                <a:spcPct val="100000"/>
              </a:lnSpc>
              <a:spcBef>
                <a:spcPts val="1400"/>
              </a:spcBef>
              <a:buFontTx/>
              <a:buChar char="-"/>
            </a:pPr>
            <a:r>
              <a:rPr lang="en-US" sz="1700" dirty="0">
                <a:solidFill>
                  <a:schemeClr val="bg2">
                    <a:lumMod val="50000"/>
                  </a:schemeClr>
                </a:solidFill>
                <a:latin typeface="Abadi"/>
              </a:rPr>
              <a:t>The failed landing outcomes in drone ship, their booster version and launch site names.</a:t>
            </a:r>
            <a:endParaRPr lang="en-US" sz="2200" dirty="0">
              <a:solidFill>
                <a:schemeClr val="accent3">
                  <a:lumMod val="25000"/>
                </a:schemeClr>
              </a:solidFill>
              <a:latin typeface="Abadi"/>
            </a:endParaRPr>
          </a:p>
          <a:p>
            <a:pPr>
              <a:lnSpc>
                <a:spcPct val="100000"/>
              </a:lnSpc>
              <a:spcBef>
                <a:spcPts val="1400"/>
              </a:spcBef>
            </a:pPr>
            <a:r>
              <a:rPr lang="en-US" sz="2200" dirty="0">
                <a:solidFill>
                  <a:schemeClr val="accent3">
                    <a:lumMod val="25000"/>
                  </a:schemeClr>
                </a:solidFill>
                <a:latin typeface="Abadi"/>
              </a:rPr>
              <a:t>The link to the notebook is </a:t>
            </a:r>
            <a:r>
              <a:rPr lang="en-US" sz="2200" dirty="0">
                <a:solidFill>
                  <a:srgbClr val="1C7DDB"/>
                </a:solidFill>
                <a:latin typeface="Abadi"/>
              </a:rPr>
              <a:t>https://github.com/chuksoo/IBM-Data-Science-Capstone-SpaceX/blob/main/EDA%20with%20SQL.ipynb</a:t>
            </a:r>
          </a:p>
          <a:p>
            <a:pPr marL="0" indent="0">
              <a:lnSpc>
                <a:spcPct val="100000"/>
              </a:lnSpc>
              <a:spcBef>
                <a:spcPts val="1400"/>
              </a:spcBef>
              <a:buNone/>
            </a:pPr>
            <a:endParaRPr lang="en-US" sz="2200" dirty="0">
              <a:solidFill>
                <a:schemeClr val="accent3">
                  <a:lumMod val="25000"/>
                </a:schemeClr>
              </a:solidFill>
              <a:latin typeface="Abadi"/>
            </a:endParaRPr>
          </a:p>
          <a:p>
            <a:pPr marL="0" indent="0">
              <a:lnSpc>
                <a:spcPct val="100000"/>
              </a:lnSpc>
              <a:spcBef>
                <a:spcPts val="1400"/>
              </a:spcBef>
              <a:buNone/>
            </a:pPr>
            <a:endParaRPr lang="en-US" sz="2200" dirty="0">
              <a:solidFill>
                <a:schemeClr val="accent3">
                  <a:lumMod val="25000"/>
                </a:schemeClr>
              </a:solidFill>
              <a:latin typeface="Abadi"/>
            </a:endParaRPr>
          </a:p>
          <a:p>
            <a:pPr>
              <a:lnSpc>
                <a:spcPct val="100000"/>
              </a:lnSpc>
              <a:spcBef>
                <a:spcPts val="1400"/>
              </a:spcBef>
            </a:pPr>
            <a:endParaRPr lang="en-US" sz="2200" dirty="0">
              <a:solidFill>
                <a:schemeClr val="accent3">
                  <a:lumMod val="25000"/>
                </a:schemeClr>
              </a:solidFill>
              <a:latin typeface="Abadi" panose="020B0604020104020204" pitchFamily="34" charset="0"/>
            </a:endParaRPr>
          </a:p>
          <a:p>
            <a:endParaRPr lang="en-US" dirty="0"/>
          </a:p>
          <a:p>
            <a:endParaRPr lang="en-US" dirty="0"/>
          </a:p>
          <a:p>
            <a:endParaRPr lang="en-US" dirty="0"/>
          </a:p>
        </p:txBody>
      </p:sp>
      <p:sp>
        <p:nvSpPr>
          <p:cNvPr id="3" name="Title 1">
            <a:extLst>
              <a:ext uri="{FF2B5EF4-FFF2-40B4-BE49-F238E27FC236}">
                <a16:creationId xmlns:a16="http://schemas.microsoft.com/office/drawing/2014/main" id="{32405FDA-CB27-4506-BA80-B7DD00CB25C5}"/>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EDA with SQL</a:t>
            </a:r>
            <a:endParaRPr lang="en-US" dirty="0">
              <a:solidFill>
                <a:srgbClr val="0B49CB"/>
              </a:solidFill>
            </a:endParaRPr>
          </a:p>
        </p:txBody>
      </p:sp>
    </p:spTree>
    <p:extLst>
      <p:ext uri="{BB962C8B-B14F-4D97-AF65-F5344CB8AC3E}">
        <p14:creationId xmlns:p14="http://schemas.microsoft.com/office/powerpoint/2010/main" val="15787263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ADB26FF-76AA-124F-92D8-C93C45D216A8}"/>
              </a:ext>
            </a:extLst>
          </p:cNvPr>
          <p:cNvSpPr>
            <a:spLocks noGrp="1"/>
          </p:cNvSpPr>
          <p:nvPr>
            <p:ph type="sldNum" sz="quarter" idx="12"/>
          </p:nvPr>
        </p:nvSpPr>
        <p:spPr/>
        <p:txBody>
          <a:bodyPr/>
          <a:lstStyle/>
          <a:p>
            <a:fld id="{5075537C-CA84-1446-933C-8E9D027F9201}" type="slidenum">
              <a:rPr lang="en-US" smtClean="0"/>
              <a:t>13</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838200" y="1507253"/>
            <a:ext cx="10515600" cy="4719139"/>
          </a:xfrm>
          <a:prstGeom prst="rect">
            <a:avLst/>
          </a:prstGeom>
        </p:spPr>
        <p:txBody>
          <a:bodyPr>
            <a:normAutofit/>
          </a:bodyPr>
          <a:lstStyle/>
          <a:p>
            <a:pPr>
              <a:lnSpc>
                <a:spcPct val="100000"/>
              </a:lnSpc>
              <a:spcBef>
                <a:spcPts val="1400"/>
              </a:spcBef>
            </a:pPr>
            <a:r>
              <a:rPr lang="en-US" sz="2200" dirty="0">
                <a:solidFill>
                  <a:schemeClr val="accent3">
                    <a:lumMod val="25000"/>
                  </a:schemeClr>
                </a:solidFill>
                <a:latin typeface="Abadi" panose="020B0604020104020204" pitchFamily="34" charset="0"/>
              </a:rPr>
              <a:t>We marked all launch sites, and added map objects such as markers, circles, lines to mark the success or failure of launches for each site on the folium map.</a:t>
            </a:r>
          </a:p>
          <a:p>
            <a:pPr>
              <a:lnSpc>
                <a:spcPct val="100000"/>
              </a:lnSpc>
              <a:spcBef>
                <a:spcPts val="1400"/>
              </a:spcBef>
            </a:pPr>
            <a:r>
              <a:rPr lang="en-US" sz="2200" dirty="0">
                <a:solidFill>
                  <a:schemeClr val="accent3">
                    <a:lumMod val="25000"/>
                  </a:schemeClr>
                </a:solidFill>
                <a:latin typeface="Abadi" panose="020B0604020104020204" pitchFamily="34" charset="0"/>
              </a:rPr>
              <a:t>We assigned the feature launch outcomes (failure or success) to class 0 and 1.i.e., 0 for failure, and 1 for success.</a:t>
            </a:r>
          </a:p>
          <a:p>
            <a:pPr>
              <a:lnSpc>
                <a:spcPct val="100000"/>
              </a:lnSpc>
              <a:spcBef>
                <a:spcPts val="1400"/>
              </a:spcBef>
            </a:pPr>
            <a:r>
              <a:rPr lang="en-US" sz="2200" dirty="0">
                <a:solidFill>
                  <a:schemeClr val="accent3">
                    <a:lumMod val="25000"/>
                  </a:schemeClr>
                </a:solidFill>
                <a:latin typeface="Abadi" panose="020B0604020104020204" pitchFamily="34" charset="0"/>
              </a:rPr>
              <a:t>Using the color-labeled marker clusters, we identified which launch sites have relatively high success rate. </a:t>
            </a:r>
          </a:p>
          <a:p>
            <a:pPr>
              <a:lnSpc>
                <a:spcPct val="100000"/>
              </a:lnSpc>
              <a:spcBef>
                <a:spcPts val="1400"/>
              </a:spcBef>
            </a:pPr>
            <a:r>
              <a:rPr lang="en-US" sz="2200" dirty="0">
                <a:solidFill>
                  <a:schemeClr val="accent3">
                    <a:lumMod val="25000"/>
                  </a:schemeClr>
                </a:solidFill>
                <a:latin typeface="Abadi" panose="020B0604020104020204" pitchFamily="34" charset="0"/>
              </a:rPr>
              <a:t>We calculated the distances between a launch site to its proximities. We answered some question for instance:</a:t>
            </a:r>
          </a:p>
          <a:p>
            <a:pPr lvl="1">
              <a:lnSpc>
                <a:spcPct val="100000"/>
              </a:lnSpc>
              <a:spcBef>
                <a:spcPts val="1400"/>
              </a:spcBef>
              <a:buFontTx/>
              <a:buChar char="-"/>
            </a:pPr>
            <a:r>
              <a:rPr lang="en-US" sz="1800" dirty="0">
                <a:solidFill>
                  <a:schemeClr val="bg2">
                    <a:lumMod val="50000"/>
                  </a:schemeClr>
                </a:solidFill>
                <a:latin typeface="Abadi" panose="020B0604020104020204" pitchFamily="34" charset="0"/>
              </a:rPr>
              <a:t>Are launch sites near railways, highways and coastlines.</a:t>
            </a:r>
          </a:p>
          <a:p>
            <a:pPr lvl="1">
              <a:lnSpc>
                <a:spcPct val="100000"/>
              </a:lnSpc>
              <a:spcBef>
                <a:spcPts val="1400"/>
              </a:spcBef>
              <a:buFontTx/>
              <a:buChar char="-"/>
            </a:pPr>
            <a:r>
              <a:rPr lang="en-US" sz="1800" dirty="0">
                <a:solidFill>
                  <a:schemeClr val="bg2">
                    <a:lumMod val="50000"/>
                  </a:schemeClr>
                </a:solidFill>
                <a:latin typeface="Abadi" panose="020B0604020104020204" pitchFamily="34" charset="0"/>
              </a:rPr>
              <a:t>Do launch sites keep certain distance away from cities.</a:t>
            </a:r>
          </a:p>
          <a:p>
            <a:endParaRPr lang="en-US" dirty="0"/>
          </a:p>
          <a:p>
            <a:endParaRPr lang="en-US" dirty="0"/>
          </a:p>
        </p:txBody>
      </p:sp>
      <p:sp>
        <p:nvSpPr>
          <p:cNvPr id="3" name="Title 1">
            <a:extLst>
              <a:ext uri="{FF2B5EF4-FFF2-40B4-BE49-F238E27FC236}">
                <a16:creationId xmlns:a16="http://schemas.microsoft.com/office/drawing/2014/main" id="{B28946E4-5BEF-46F0-A56A-E7E85ACA148F}"/>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Build an Interactive Map with Folium</a:t>
            </a:r>
            <a:endParaRPr lang="en-US" dirty="0">
              <a:solidFill>
                <a:srgbClr val="0B49CB"/>
              </a:solidFill>
            </a:endParaRPr>
          </a:p>
        </p:txBody>
      </p:sp>
    </p:spTree>
    <p:extLst>
      <p:ext uri="{BB962C8B-B14F-4D97-AF65-F5344CB8AC3E}">
        <p14:creationId xmlns:p14="http://schemas.microsoft.com/office/powerpoint/2010/main" val="1481143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ADB26FF-76AA-124F-92D8-C93C45D216A8}"/>
              </a:ext>
            </a:extLst>
          </p:cNvPr>
          <p:cNvSpPr>
            <a:spLocks noGrp="1"/>
          </p:cNvSpPr>
          <p:nvPr>
            <p:ph type="sldNum" sz="quarter" idx="12"/>
          </p:nvPr>
        </p:nvSpPr>
        <p:spPr/>
        <p:txBody>
          <a:bodyPr/>
          <a:lstStyle/>
          <a:p>
            <a:fld id="{5075537C-CA84-1446-933C-8E9D027F9201}" type="slidenum">
              <a:rPr lang="en-US" smtClean="0"/>
              <a:t>14</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1031267" y="1825625"/>
            <a:ext cx="9745589" cy="3288986"/>
          </a:xfrm>
          <a:prstGeom prst="rect">
            <a:avLst/>
          </a:prstGeom>
        </p:spPr>
        <p:txBody>
          <a:bodyPr vert="horz" lIns="91440" tIns="45720" rIns="91440" bIns="45720" rtlCol="0" anchor="t">
            <a:normAutofit/>
          </a:bodyPr>
          <a:lstStyle/>
          <a:p>
            <a:pPr>
              <a:lnSpc>
                <a:spcPct val="100000"/>
              </a:lnSpc>
              <a:spcBef>
                <a:spcPts val="1400"/>
              </a:spcBef>
            </a:pPr>
            <a:r>
              <a:rPr lang="en-US" sz="2200" dirty="0">
                <a:solidFill>
                  <a:schemeClr val="accent3">
                    <a:lumMod val="25000"/>
                  </a:schemeClr>
                </a:solidFill>
                <a:latin typeface="Abadi" panose="020B0604020104020204" pitchFamily="34" charset="0"/>
              </a:rPr>
              <a:t>We built an interactive dashboard with Plotly dash</a:t>
            </a:r>
          </a:p>
          <a:p>
            <a:pPr>
              <a:lnSpc>
                <a:spcPct val="100000"/>
              </a:lnSpc>
              <a:spcBef>
                <a:spcPts val="1400"/>
              </a:spcBef>
            </a:pPr>
            <a:r>
              <a:rPr lang="en-US" sz="2200" dirty="0">
                <a:solidFill>
                  <a:schemeClr val="accent3">
                    <a:lumMod val="25000"/>
                  </a:schemeClr>
                </a:solidFill>
                <a:latin typeface="Abadi" panose="020B0604020104020204" pitchFamily="34" charset="0"/>
              </a:rPr>
              <a:t>We plotted pie charts showing the total launches by a certain sites</a:t>
            </a:r>
          </a:p>
          <a:p>
            <a:pPr>
              <a:lnSpc>
                <a:spcPct val="100000"/>
              </a:lnSpc>
              <a:spcBef>
                <a:spcPts val="1400"/>
              </a:spcBef>
            </a:pPr>
            <a:r>
              <a:rPr lang="en-US" sz="2200" dirty="0">
                <a:solidFill>
                  <a:schemeClr val="accent3">
                    <a:lumMod val="25000"/>
                  </a:schemeClr>
                </a:solidFill>
                <a:latin typeface="Abadi" panose="020B0604020104020204" pitchFamily="34" charset="0"/>
              </a:rPr>
              <a:t>We plotted scatter graph showing the relationship with Outcome and Payload Mass (Kg) for the different booster version.</a:t>
            </a:r>
          </a:p>
          <a:p>
            <a:pPr>
              <a:lnSpc>
                <a:spcPct val="100000"/>
              </a:lnSpc>
              <a:spcBef>
                <a:spcPts val="1400"/>
              </a:spcBef>
            </a:pPr>
            <a:r>
              <a:rPr lang="en-US" sz="2200" dirty="0">
                <a:solidFill>
                  <a:schemeClr val="accent3">
                    <a:lumMod val="25000"/>
                  </a:schemeClr>
                </a:solidFill>
                <a:latin typeface="Abadi"/>
              </a:rPr>
              <a:t>The link to the notebook is </a:t>
            </a:r>
            <a:r>
              <a:rPr lang="en-US" sz="2200" dirty="0">
                <a:solidFill>
                  <a:srgbClr val="1C7DDB"/>
                </a:solidFill>
                <a:latin typeface="Abadi" panose="020B0604020104020204" pitchFamily="34" charset="0"/>
              </a:rPr>
              <a:t>https://github.com/chuksoo/IBM-Data-Science-Capstone-SpaceX/blob/main/app.py</a:t>
            </a:r>
          </a:p>
          <a:p>
            <a:endParaRPr lang="en-US" dirty="0"/>
          </a:p>
        </p:txBody>
      </p:sp>
      <p:sp>
        <p:nvSpPr>
          <p:cNvPr id="3" name="Title 1">
            <a:extLst>
              <a:ext uri="{FF2B5EF4-FFF2-40B4-BE49-F238E27FC236}">
                <a16:creationId xmlns:a16="http://schemas.microsoft.com/office/drawing/2014/main" id="{519FC08B-7D2E-43A5-A528-821DCDCCCC82}"/>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Build a Dashboard with Plotly Dash</a:t>
            </a:r>
          </a:p>
        </p:txBody>
      </p:sp>
    </p:spTree>
    <p:extLst>
      <p:ext uri="{BB962C8B-B14F-4D97-AF65-F5344CB8AC3E}">
        <p14:creationId xmlns:p14="http://schemas.microsoft.com/office/powerpoint/2010/main" val="3345327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F1B08F2-C4AD-A440-BB78-A0625E28887A}"/>
              </a:ext>
            </a:extLst>
          </p:cNvPr>
          <p:cNvSpPr>
            <a:spLocks noGrp="1"/>
          </p:cNvSpPr>
          <p:nvPr>
            <p:ph type="sldNum" sz="quarter" idx="12"/>
          </p:nvPr>
        </p:nvSpPr>
        <p:spPr/>
        <p:txBody>
          <a:bodyPr/>
          <a:lstStyle/>
          <a:p>
            <a:fld id="{5075537C-CA84-1446-933C-8E9D027F9201}" type="slidenum">
              <a:rPr lang="en-US" smtClean="0"/>
              <a:t>15</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a:normAutofit/>
          </a:bodyPr>
          <a:lstStyle/>
          <a:p>
            <a:pPr>
              <a:lnSpc>
                <a:spcPct val="100000"/>
              </a:lnSpc>
              <a:spcBef>
                <a:spcPts val="1400"/>
              </a:spcBef>
            </a:pPr>
            <a:r>
              <a:rPr lang="en-US" sz="2200" dirty="0">
                <a:solidFill>
                  <a:schemeClr val="accent3">
                    <a:lumMod val="25000"/>
                  </a:schemeClr>
                </a:solidFill>
                <a:latin typeface="Abadi" panose="020B0604020104020204" pitchFamily="34" charset="0"/>
              </a:rPr>
              <a:t>We loaded the data using </a:t>
            </a:r>
            <a:r>
              <a:rPr lang="en-US" sz="2200" dirty="0" err="1">
                <a:solidFill>
                  <a:schemeClr val="accent3">
                    <a:lumMod val="25000"/>
                  </a:schemeClr>
                </a:solidFill>
                <a:latin typeface="Abadi" panose="020B0604020104020204" pitchFamily="34" charset="0"/>
              </a:rPr>
              <a:t>numpy</a:t>
            </a:r>
            <a:r>
              <a:rPr lang="en-US" sz="2200" dirty="0">
                <a:solidFill>
                  <a:schemeClr val="accent3">
                    <a:lumMod val="25000"/>
                  </a:schemeClr>
                </a:solidFill>
                <a:latin typeface="Abadi" panose="020B0604020104020204" pitchFamily="34" charset="0"/>
              </a:rPr>
              <a:t> and pandas, transformed the data, split our data into training and testing.</a:t>
            </a:r>
          </a:p>
          <a:p>
            <a:pPr>
              <a:lnSpc>
                <a:spcPct val="100000"/>
              </a:lnSpc>
              <a:spcBef>
                <a:spcPts val="1400"/>
              </a:spcBef>
            </a:pPr>
            <a:r>
              <a:rPr lang="en-US" sz="2200" dirty="0">
                <a:solidFill>
                  <a:schemeClr val="accent3">
                    <a:lumMod val="25000"/>
                  </a:schemeClr>
                </a:solidFill>
                <a:latin typeface="Abadi" panose="020B0604020104020204" pitchFamily="34" charset="0"/>
              </a:rPr>
              <a:t>We built different machine learning models and tune different hyperparameters using </a:t>
            </a:r>
            <a:r>
              <a:rPr lang="en-US" sz="2200" dirty="0" err="1">
                <a:solidFill>
                  <a:schemeClr val="accent3">
                    <a:lumMod val="25000"/>
                  </a:schemeClr>
                </a:solidFill>
                <a:latin typeface="Abadi" panose="020B0604020104020204" pitchFamily="34" charset="0"/>
              </a:rPr>
              <a:t>GridSearchCV</a:t>
            </a:r>
            <a:r>
              <a:rPr lang="en-US" sz="2200" dirty="0">
                <a:solidFill>
                  <a:schemeClr val="accent3">
                    <a:lumMod val="25000"/>
                  </a:schemeClr>
                </a:solidFill>
                <a:latin typeface="Abadi" panose="020B0604020104020204" pitchFamily="34" charset="0"/>
              </a:rPr>
              <a:t>.</a:t>
            </a:r>
          </a:p>
          <a:p>
            <a:pPr>
              <a:lnSpc>
                <a:spcPct val="100000"/>
              </a:lnSpc>
              <a:spcBef>
                <a:spcPts val="1400"/>
              </a:spcBef>
            </a:pPr>
            <a:r>
              <a:rPr lang="en-US" sz="2200" dirty="0">
                <a:solidFill>
                  <a:schemeClr val="accent3">
                    <a:lumMod val="25000"/>
                  </a:schemeClr>
                </a:solidFill>
                <a:latin typeface="Abadi" panose="020B0604020104020204" pitchFamily="34" charset="0"/>
              </a:rPr>
              <a:t>We used accuracy as the metric for our model, improved the model using feature engineering and algorithm tuning.</a:t>
            </a:r>
          </a:p>
          <a:p>
            <a:pPr>
              <a:lnSpc>
                <a:spcPct val="100000"/>
              </a:lnSpc>
              <a:spcBef>
                <a:spcPts val="1400"/>
              </a:spcBef>
            </a:pPr>
            <a:r>
              <a:rPr lang="en-US" sz="2200" dirty="0">
                <a:solidFill>
                  <a:schemeClr val="accent3">
                    <a:lumMod val="25000"/>
                  </a:schemeClr>
                </a:solidFill>
                <a:latin typeface="Abadi" panose="020B0604020104020204" pitchFamily="34" charset="0"/>
              </a:rPr>
              <a:t>We found the best performing classification model.</a:t>
            </a:r>
          </a:p>
          <a:p>
            <a:pPr>
              <a:lnSpc>
                <a:spcPct val="100000"/>
              </a:lnSpc>
              <a:spcBef>
                <a:spcPts val="1400"/>
              </a:spcBef>
            </a:pPr>
            <a:r>
              <a:rPr lang="en-US" sz="2200" dirty="0">
                <a:solidFill>
                  <a:schemeClr val="accent3">
                    <a:lumMod val="25000"/>
                  </a:schemeClr>
                </a:solidFill>
                <a:latin typeface="Abadi"/>
              </a:rPr>
              <a:t>The link to the notebook is </a:t>
            </a:r>
            <a:r>
              <a:rPr lang="en-US" sz="2200" dirty="0">
                <a:solidFill>
                  <a:srgbClr val="1C7DDB"/>
                </a:solidFill>
                <a:latin typeface="Abadi" panose="020B0604020104020204" pitchFamily="34" charset="0"/>
              </a:rPr>
              <a:t>https://github.com/chuksoo/IBM-Data-Science-Capstone-SpaceX/blob/main/Machine%20Learning%20Prediction.ipynb</a:t>
            </a:r>
          </a:p>
          <a:p>
            <a:endParaRPr lang="en-US" dirty="0"/>
          </a:p>
        </p:txBody>
      </p:sp>
      <p:sp>
        <p:nvSpPr>
          <p:cNvPr id="3" name="Title 1">
            <a:extLst>
              <a:ext uri="{FF2B5EF4-FFF2-40B4-BE49-F238E27FC236}">
                <a16:creationId xmlns:a16="http://schemas.microsoft.com/office/drawing/2014/main" id="{FC857EDD-A3A7-434D-B8D5-401E872498DA}"/>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Predictive Analysis (Classification)</a:t>
            </a:r>
          </a:p>
        </p:txBody>
      </p:sp>
    </p:spTree>
    <p:extLst>
      <p:ext uri="{BB962C8B-B14F-4D97-AF65-F5344CB8AC3E}">
        <p14:creationId xmlns:p14="http://schemas.microsoft.com/office/powerpoint/2010/main" val="18137112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C7B9C153-C85C-3240-8E7E-523FBC004564}"/>
              </a:ext>
            </a:extLst>
          </p:cNvPr>
          <p:cNvSpPr txBox="1">
            <a:spLocks/>
          </p:cNvSpPr>
          <p:nvPr/>
        </p:nvSpPr>
        <p:spPr>
          <a:xfrm>
            <a:off x="841125" y="1807337"/>
            <a:ext cx="7068725" cy="16216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nSpc>
                <a:spcPct val="100000"/>
              </a:lnSpc>
              <a:spcBef>
                <a:spcPts val="1400"/>
              </a:spcBef>
            </a:pPr>
            <a:r>
              <a:rPr lang="en-US" sz="2200" dirty="0">
                <a:solidFill>
                  <a:schemeClr val="accent3">
                    <a:lumMod val="25000"/>
                  </a:schemeClr>
                </a:solidFill>
                <a:latin typeface="Abadi" panose="020B0604020104020204" pitchFamily="34" charset="0"/>
              </a:rPr>
              <a:t>Exploratory data analysis results</a:t>
            </a:r>
          </a:p>
          <a:p>
            <a:pPr>
              <a:lnSpc>
                <a:spcPct val="100000"/>
              </a:lnSpc>
              <a:spcBef>
                <a:spcPts val="1400"/>
              </a:spcBef>
            </a:pPr>
            <a:r>
              <a:rPr lang="en-US" sz="2200" dirty="0">
                <a:solidFill>
                  <a:schemeClr val="accent3">
                    <a:lumMod val="25000"/>
                  </a:schemeClr>
                </a:solidFill>
                <a:latin typeface="Abadi" panose="020B0604020104020204" pitchFamily="34" charset="0"/>
              </a:rPr>
              <a:t>Interactive analytics demo in screenshots</a:t>
            </a:r>
          </a:p>
          <a:p>
            <a:pPr>
              <a:lnSpc>
                <a:spcPct val="100000"/>
              </a:lnSpc>
              <a:spcBef>
                <a:spcPts val="1400"/>
              </a:spcBef>
            </a:pPr>
            <a:r>
              <a:rPr lang="en-US" sz="2200" dirty="0">
                <a:solidFill>
                  <a:schemeClr val="accent3">
                    <a:lumMod val="25000"/>
                  </a:schemeClr>
                </a:solidFill>
                <a:latin typeface="Abadi" panose="020B0604020104020204" pitchFamily="34" charset="0"/>
              </a:rPr>
              <a:t>Predictive analysis results</a:t>
            </a:r>
          </a:p>
          <a:p>
            <a:pPr lvl="1"/>
            <a:endParaRPr lang="en-US" sz="1800" dirty="0"/>
          </a:p>
          <a:p>
            <a:pPr marL="457200" lvl="1" indent="0">
              <a:buNone/>
            </a:pPr>
            <a:endParaRPr lang="en-US" sz="1800" dirty="0"/>
          </a:p>
        </p:txBody>
      </p:sp>
      <p:sp>
        <p:nvSpPr>
          <p:cNvPr id="4" name="Slide Number Placeholder 3">
            <a:extLst>
              <a:ext uri="{FF2B5EF4-FFF2-40B4-BE49-F238E27FC236}">
                <a16:creationId xmlns:a16="http://schemas.microsoft.com/office/drawing/2014/main" id="{3D45C363-925C-9E48-86B0-27D7D36E50D6}"/>
              </a:ext>
            </a:extLst>
          </p:cNvPr>
          <p:cNvSpPr>
            <a:spLocks noGrp="1"/>
          </p:cNvSpPr>
          <p:nvPr>
            <p:ph type="sldNum" sz="quarter" idx="12"/>
          </p:nvPr>
        </p:nvSpPr>
        <p:spPr/>
        <p:txBody>
          <a:bodyPr/>
          <a:lstStyle/>
          <a:p>
            <a:fld id="{5075537C-CA84-1446-933C-8E9D027F9201}" type="slidenum">
              <a:rPr lang="en-US" smtClean="0"/>
              <a:t>16</a:t>
            </a:fld>
            <a:endParaRPr lang="en-US"/>
          </a:p>
        </p:txBody>
      </p:sp>
      <p:sp>
        <p:nvSpPr>
          <p:cNvPr id="7" name="Title 1">
            <a:extLst>
              <a:ext uri="{FF2B5EF4-FFF2-40B4-BE49-F238E27FC236}">
                <a16:creationId xmlns:a16="http://schemas.microsoft.com/office/drawing/2014/main" id="{330F9542-6794-4F57-BB45-868D94AD06B0}"/>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Results</a:t>
            </a:r>
            <a:endParaRPr lang="en-US" dirty="0">
              <a:solidFill>
                <a:srgbClr val="0B49CB"/>
              </a:solidFill>
            </a:endParaRPr>
          </a:p>
        </p:txBody>
      </p:sp>
    </p:spTree>
    <p:extLst>
      <p:ext uri="{BB962C8B-B14F-4D97-AF65-F5344CB8AC3E}">
        <p14:creationId xmlns:p14="http://schemas.microsoft.com/office/powerpoint/2010/main" val="3210089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3482D-BFB2-C00E-AFA0-7E28E3968044}"/>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2C6547ED-1878-9655-2B18-DD0D2FB2D17F}"/>
              </a:ext>
            </a:extLst>
          </p:cNvPr>
          <p:cNvPicPr>
            <a:picLocks noChangeAspect="1"/>
          </p:cNvPicPr>
          <p:nvPr/>
        </p:nvPicPr>
        <p:blipFill>
          <a:blip r:embed="rId2"/>
          <a:srcRect/>
          <a:stretch/>
        </p:blipFill>
        <p:spPr>
          <a:xfrm>
            <a:off x="0" y="-281552"/>
            <a:ext cx="12433204" cy="7251703"/>
          </a:xfrm>
          <a:prstGeom prst="rect">
            <a:avLst/>
          </a:prstGeom>
        </p:spPr>
      </p:pic>
      <p:sp>
        <p:nvSpPr>
          <p:cNvPr id="5" name="Rectangle 4">
            <a:extLst>
              <a:ext uri="{FF2B5EF4-FFF2-40B4-BE49-F238E27FC236}">
                <a16:creationId xmlns:a16="http://schemas.microsoft.com/office/drawing/2014/main" id="{CE4EE0EB-249C-D45E-8AB0-A5165D267773}"/>
              </a:ext>
            </a:extLst>
          </p:cNvPr>
          <p:cNvSpPr/>
          <p:nvPr/>
        </p:nvSpPr>
        <p:spPr>
          <a:xfrm>
            <a:off x="-115746" y="-84701"/>
            <a:ext cx="12548950" cy="7054852"/>
          </a:xfrm>
          <a:prstGeom prst="rect">
            <a:avLst/>
          </a:prstGeom>
          <a:gradFill flip="none" rotWithShape="1">
            <a:gsLst>
              <a:gs pos="100000">
                <a:srgbClr val="121619">
                  <a:alpha val="0"/>
                </a:srgbClr>
              </a:gs>
              <a:gs pos="100000">
                <a:srgbClr val="F2F4F8">
                  <a:alpha val="0"/>
                </a:srgbClr>
              </a:gs>
              <a:gs pos="100000">
                <a:schemeClr val="bg1">
                  <a:alpha val="0"/>
                </a:schemeClr>
              </a:gs>
              <a:gs pos="30000">
                <a:srgbClr val="121619"/>
              </a:gs>
              <a:gs pos="5000">
                <a:srgbClr val="121619"/>
              </a:gs>
              <a:gs pos="100000">
                <a:srgbClr val="121619">
                  <a:alpha val="0"/>
                </a:srgbClr>
              </a:gs>
              <a:gs pos="100000">
                <a:srgbClr val="F8F9FA">
                  <a:alpha val="0"/>
                </a:srgbClr>
              </a:gs>
            </a:gsLst>
            <a:lin ang="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40F225DA-F561-C93F-0116-FA1D810F48B5}"/>
              </a:ext>
            </a:extLst>
          </p:cNvPr>
          <p:cNvSpPr>
            <a:spLocks noGrp="1"/>
          </p:cNvSpPr>
          <p:nvPr>
            <p:ph type="ctrTitle"/>
          </p:nvPr>
        </p:nvSpPr>
        <p:spPr>
          <a:xfrm>
            <a:off x="889820" y="2717225"/>
            <a:ext cx="4098869" cy="1423549"/>
          </a:xfrm>
        </p:spPr>
        <p:txBody>
          <a:bodyPr>
            <a:normAutofit/>
          </a:bodyPr>
          <a:lstStyle/>
          <a:p>
            <a:pPr algn="l"/>
            <a:r>
              <a:rPr lang="en-IN" b="1" dirty="0">
                <a:solidFill>
                  <a:schemeClr val="bg1"/>
                </a:solidFill>
              </a:rPr>
              <a:t>Insights drawn from EDA</a:t>
            </a:r>
          </a:p>
        </p:txBody>
      </p:sp>
      <p:sp>
        <p:nvSpPr>
          <p:cNvPr id="12" name="TextBox 11">
            <a:extLst>
              <a:ext uri="{FF2B5EF4-FFF2-40B4-BE49-F238E27FC236}">
                <a16:creationId xmlns:a16="http://schemas.microsoft.com/office/drawing/2014/main" id="{20402E89-B98F-F016-DAD4-E63D86D41F1D}"/>
              </a:ext>
            </a:extLst>
          </p:cNvPr>
          <p:cNvSpPr txBox="1"/>
          <p:nvPr/>
        </p:nvSpPr>
        <p:spPr>
          <a:xfrm>
            <a:off x="889820" y="2348811"/>
            <a:ext cx="2514600" cy="369332"/>
          </a:xfrm>
          <a:prstGeom prst="rect">
            <a:avLst/>
          </a:prstGeom>
          <a:noFill/>
        </p:spPr>
        <p:txBody>
          <a:bodyPr wrap="square" lIns="91440" tIns="45720" rIns="91440" bIns="45720" rtlCol="0" anchor="t">
            <a:spAutoFit/>
          </a:bodyPr>
          <a:lstStyle/>
          <a:p>
            <a:r>
              <a:rPr lang="en-US" dirty="0">
                <a:solidFill>
                  <a:schemeClr val="bg2"/>
                </a:solidFill>
                <a:latin typeface="Abadi" panose="020B0604020104020204" pitchFamily="34" charset="0"/>
                <a:ea typeface="SF Pro" pitchFamily="2" charset="0"/>
                <a:cs typeface="SF Pro" pitchFamily="2" charset="0"/>
              </a:rPr>
              <a:t>Section 2</a:t>
            </a:r>
          </a:p>
        </p:txBody>
      </p:sp>
    </p:spTree>
    <p:extLst>
      <p:ext uri="{BB962C8B-B14F-4D97-AF65-F5344CB8AC3E}">
        <p14:creationId xmlns:p14="http://schemas.microsoft.com/office/powerpoint/2010/main" val="3623025712"/>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18</a:t>
            </a:fld>
            <a:endParaRPr lang="en-US"/>
          </a:p>
        </p:txBody>
      </p:sp>
      <p:sp>
        <p:nvSpPr>
          <p:cNvPr id="3" name="Content Placeholder 2">
            <a:extLst>
              <a:ext uri="{FF2B5EF4-FFF2-40B4-BE49-F238E27FC236}">
                <a16:creationId xmlns:a16="http://schemas.microsoft.com/office/drawing/2014/main" id="{373827F3-F386-AA4E-80ED-D86DEF8C158D}"/>
              </a:ext>
            </a:extLst>
          </p:cNvPr>
          <p:cNvSpPr>
            <a:spLocks noGrp="1"/>
          </p:cNvSpPr>
          <p:nvPr>
            <p:ph type="body" sz="half" idx="4294967295"/>
          </p:nvPr>
        </p:nvSpPr>
        <p:spPr>
          <a:xfrm>
            <a:off x="864972" y="2057400"/>
            <a:ext cx="10592999" cy="967154"/>
          </a:xfrm>
          <a:prstGeom prst="rect">
            <a:avLst/>
          </a:prstGeom>
        </p:spPr>
        <p:txBody>
          <a:bodyPr>
            <a:normAutofit/>
          </a:bodyPr>
          <a:lstStyle/>
          <a:p>
            <a:pPr>
              <a:lnSpc>
                <a:spcPct val="100000"/>
              </a:lnSpc>
              <a:spcBef>
                <a:spcPts val="1400"/>
              </a:spcBef>
            </a:pPr>
            <a:r>
              <a:rPr lang="en-US" sz="2200" dirty="0">
                <a:solidFill>
                  <a:schemeClr val="accent3">
                    <a:lumMod val="25000"/>
                  </a:schemeClr>
                </a:solidFill>
                <a:latin typeface="Abadi" panose="020B0604020104020204" pitchFamily="34" charset="0"/>
              </a:rPr>
              <a:t>From the plot, we found that the larger the flight amount at a launch site, the greater the success rate at a launch site.</a:t>
            </a:r>
          </a:p>
          <a:p>
            <a:pPr>
              <a:lnSpc>
                <a:spcPct val="100000"/>
              </a:lnSpc>
              <a:spcBef>
                <a:spcPts val="1400"/>
              </a:spcBef>
            </a:pPr>
            <a:endParaRPr lang="en-US" sz="2200" dirty="0">
              <a:solidFill>
                <a:schemeClr val="accent3">
                  <a:lumMod val="25000"/>
                </a:schemeClr>
              </a:solidFill>
              <a:latin typeface="Abadi" panose="020B0604020104020204" pitchFamily="34" charset="0"/>
            </a:endParaRPr>
          </a:p>
        </p:txBody>
      </p:sp>
      <p:sp>
        <p:nvSpPr>
          <p:cNvPr id="4" name="Title 1">
            <a:extLst>
              <a:ext uri="{FF2B5EF4-FFF2-40B4-BE49-F238E27FC236}">
                <a16:creationId xmlns:a16="http://schemas.microsoft.com/office/drawing/2014/main" id="{54F4FCC5-6E7E-4FF0-BE45-680EEC392C9F}"/>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Flight Number vs. Launch Site</a:t>
            </a:r>
            <a:endParaRPr lang="en-US" dirty="0">
              <a:solidFill>
                <a:srgbClr val="0B49CB"/>
              </a:solidFill>
            </a:endParaRPr>
          </a:p>
        </p:txBody>
      </p:sp>
      <p:pic>
        <p:nvPicPr>
          <p:cNvPr id="6" name="Picture 5">
            <a:extLst>
              <a:ext uri="{FF2B5EF4-FFF2-40B4-BE49-F238E27FC236}">
                <a16:creationId xmlns:a16="http://schemas.microsoft.com/office/drawing/2014/main" id="{B6DE48CB-F37D-4E03-9612-4B2FE0C9C889}"/>
              </a:ext>
            </a:extLst>
          </p:cNvPr>
          <p:cNvPicPr>
            <a:picLocks noChangeAspect="1"/>
          </p:cNvPicPr>
          <p:nvPr/>
        </p:nvPicPr>
        <p:blipFill>
          <a:blip r:embed="rId3"/>
          <a:stretch>
            <a:fillRect/>
          </a:stretch>
        </p:blipFill>
        <p:spPr>
          <a:xfrm>
            <a:off x="1205802" y="2954215"/>
            <a:ext cx="9676563" cy="2504423"/>
          </a:xfrm>
          <a:prstGeom prst="rect">
            <a:avLst/>
          </a:prstGeom>
        </p:spPr>
      </p:pic>
    </p:spTree>
    <p:extLst>
      <p:ext uri="{BB962C8B-B14F-4D97-AF65-F5344CB8AC3E}">
        <p14:creationId xmlns:p14="http://schemas.microsoft.com/office/powerpoint/2010/main" val="38656059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B6CCD949-E788-4375-9B07-478FA5684BC1}"/>
              </a:ext>
            </a:extLst>
          </p:cNvPr>
          <p:cNvSpPr txBox="1">
            <a:spLocks/>
          </p:cNvSpPr>
          <p:nvPr/>
        </p:nvSpPr>
        <p:spPr>
          <a:xfrm>
            <a:off x="635001" y="640823"/>
            <a:ext cx="3047984" cy="250431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pPr>
              <a:spcAft>
                <a:spcPts val="600"/>
              </a:spcAft>
            </a:pPr>
            <a:r>
              <a:rPr lang="en-US" sz="3200" kern="1200" dirty="0">
                <a:solidFill>
                  <a:srgbClr val="0B49CB"/>
                </a:solidFill>
                <a:latin typeface="Abadi" panose="020B0604020104020204" pitchFamily="34" charset="0"/>
                <a:ea typeface="+mj-ea"/>
                <a:cs typeface="+mj-cs"/>
              </a:rPr>
              <a:t>Payload vs. Launch Site</a:t>
            </a:r>
          </a:p>
        </p:txBody>
      </p:sp>
      <p:sp>
        <p:nvSpPr>
          <p:cNvPr id="13"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5075537C-CA84-1446-933C-8E9D027F9201}" type="slidenum">
              <a:rPr lang="en-US" sz="1200" smtClean="0">
                <a:solidFill>
                  <a:schemeClr val="tx1">
                    <a:tint val="75000"/>
                  </a:schemeClr>
                </a:solidFill>
                <a:latin typeface="+mn-lt"/>
              </a:rPr>
              <a:pPr>
                <a:spcAft>
                  <a:spcPts val="600"/>
                </a:spcAft>
              </a:pPr>
              <a:t>19</a:t>
            </a:fld>
            <a:endParaRPr lang="en-US" sz="1200">
              <a:solidFill>
                <a:schemeClr val="tx1">
                  <a:tint val="75000"/>
                </a:schemeClr>
              </a:solidFill>
              <a:latin typeface="+mn-lt"/>
            </a:endParaRPr>
          </a:p>
        </p:txBody>
      </p:sp>
      <p:pic>
        <p:nvPicPr>
          <p:cNvPr id="6" name="Picture 5">
            <a:extLst>
              <a:ext uri="{FF2B5EF4-FFF2-40B4-BE49-F238E27FC236}">
                <a16:creationId xmlns:a16="http://schemas.microsoft.com/office/drawing/2014/main" id="{5249FA24-F878-44BC-852B-8E69CCAEC695}"/>
              </a:ext>
            </a:extLst>
          </p:cNvPr>
          <p:cNvPicPr>
            <a:picLocks noChangeAspect="1"/>
          </p:cNvPicPr>
          <p:nvPr/>
        </p:nvPicPr>
        <p:blipFill>
          <a:blip r:embed="rId2"/>
          <a:stretch>
            <a:fillRect/>
          </a:stretch>
        </p:blipFill>
        <p:spPr>
          <a:xfrm>
            <a:off x="4481565" y="3179605"/>
            <a:ext cx="6872235" cy="2406755"/>
          </a:xfrm>
          <a:prstGeom prst="rect">
            <a:avLst/>
          </a:prstGeom>
        </p:spPr>
      </p:pic>
      <p:pic>
        <p:nvPicPr>
          <p:cNvPr id="10" name="Picture 9">
            <a:extLst>
              <a:ext uri="{FF2B5EF4-FFF2-40B4-BE49-F238E27FC236}">
                <a16:creationId xmlns:a16="http://schemas.microsoft.com/office/drawing/2014/main" id="{4A1632B3-C012-413C-A33E-15F53D11AFC0}"/>
              </a:ext>
            </a:extLst>
          </p:cNvPr>
          <p:cNvPicPr>
            <a:picLocks noChangeAspect="1"/>
          </p:cNvPicPr>
          <p:nvPr/>
        </p:nvPicPr>
        <p:blipFill>
          <a:blip r:embed="rId3"/>
          <a:stretch>
            <a:fillRect/>
          </a:stretch>
        </p:blipFill>
        <p:spPr>
          <a:xfrm>
            <a:off x="4679949" y="1071405"/>
            <a:ext cx="6877050" cy="1971675"/>
          </a:xfrm>
          <a:prstGeom prst="rect">
            <a:avLst/>
          </a:prstGeom>
        </p:spPr>
      </p:pic>
    </p:spTree>
    <p:extLst>
      <p:ext uri="{BB962C8B-B14F-4D97-AF65-F5344CB8AC3E}">
        <p14:creationId xmlns:p14="http://schemas.microsoft.com/office/powerpoint/2010/main" val="38697892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D4811A61-F7FB-4B19-9ED1-E0E2554A5BE8}"/>
              </a:ext>
            </a:extLst>
          </p:cNvPr>
          <p:cNvSpPr txBox="1">
            <a:spLocks/>
          </p:cNvSpPr>
          <p:nvPr/>
        </p:nvSpPr>
        <p:spPr>
          <a:xfrm>
            <a:off x="643467" y="321734"/>
            <a:ext cx="10905066" cy="113573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pPr>
              <a:spcAft>
                <a:spcPts val="600"/>
              </a:spcAft>
            </a:pPr>
            <a:r>
              <a:rPr lang="en-US" sz="3600" kern="1200" dirty="0">
                <a:solidFill>
                  <a:srgbClr val="0B49CB"/>
                </a:solidFill>
                <a:latin typeface="Abadi" panose="020B0604020104020204" pitchFamily="34" charset="0"/>
                <a:ea typeface="+mj-ea"/>
                <a:cs typeface="+mj-cs"/>
              </a:rPr>
              <a:t>Success Rate vs. Orbit Type</a:t>
            </a:r>
          </a:p>
        </p:txBody>
      </p:sp>
      <p:sp>
        <p:nvSpPr>
          <p:cNvPr id="3" name="Content Placeholder 2">
            <a:extLst>
              <a:ext uri="{FF2B5EF4-FFF2-40B4-BE49-F238E27FC236}">
                <a16:creationId xmlns:a16="http://schemas.microsoft.com/office/drawing/2014/main" id="{373827F3-F386-AA4E-80ED-D86DEF8C158D}"/>
              </a:ext>
            </a:extLst>
          </p:cNvPr>
          <p:cNvSpPr>
            <a:spLocks noGrp="1"/>
          </p:cNvSpPr>
          <p:nvPr>
            <p:ph type="body" sz="half" idx="4294967295"/>
          </p:nvPr>
        </p:nvSpPr>
        <p:spPr>
          <a:xfrm>
            <a:off x="643469" y="1782981"/>
            <a:ext cx="4008384" cy="4393982"/>
          </a:xfrm>
          <a:prstGeom prst="rect">
            <a:avLst/>
          </a:prstGeom>
        </p:spPr>
        <p:txBody>
          <a:bodyPr vert="horz" lIns="91440" tIns="45720" rIns="91440" bIns="45720" rtlCol="0">
            <a:normAutofit/>
          </a:bodyPr>
          <a:lstStyle/>
          <a:p>
            <a:pPr>
              <a:spcBef>
                <a:spcPts val="1400"/>
              </a:spcBef>
            </a:pPr>
            <a:r>
              <a:rPr lang="en-US" sz="2200" dirty="0">
                <a:latin typeface="Abadi" panose="020B0604020104020204" pitchFamily="34" charset="0"/>
              </a:rPr>
              <a:t>From the plot, we can see that ES-L1, GEO, HEO, SSO, VLEO had the most success rate.</a:t>
            </a:r>
          </a:p>
          <a:p>
            <a:pPr>
              <a:spcBef>
                <a:spcPts val="1400"/>
              </a:spcBef>
            </a:pPr>
            <a:endParaRPr lang="en-US" sz="2000" dirty="0"/>
          </a:p>
        </p:txBody>
      </p:sp>
      <p:grpSp>
        <p:nvGrpSpPr>
          <p:cNvPr id="12" name="Group 11">
            <a:extLst>
              <a:ext uri="{FF2B5EF4-FFF2-40B4-BE49-F238E27FC236}">
                <a16:creationId xmlns:a16="http://schemas.microsoft.com/office/drawing/2014/main" id="{828A5161-06F1-46CF-8AD7-844680A59E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601497"/>
            <a:ext cx="1014060" cy="2017580"/>
            <a:chOff x="0" y="4601497"/>
            <a:chExt cx="1014060" cy="2017580"/>
          </a:xfrm>
        </p:grpSpPr>
        <p:sp>
          <p:nvSpPr>
            <p:cNvPr id="13" name="Isosceles Triangle 12">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 name="Picture 1">
            <a:extLst>
              <a:ext uri="{FF2B5EF4-FFF2-40B4-BE49-F238E27FC236}">
                <a16:creationId xmlns:a16="http://schemas.microsoft.com/office/drawing/2014/main" id="{5D079B70-0CE8-4E07-ADD8-E302B697715E}"/>
              </a:ext>
            </a:extLst>
          </p:cNvPr>
          <p:cNvPicPr>
            <a:picLocks noChangeAspect="1"/>
          </p:cNvPicPr>
          <p:nvPr/>
        </p:nvPicPr>
        <p:blipFill>
          <a:blip r:embed="rId2"/>
          <a:stretch>
            <a:fillRect/>
          </a:stretch>
        </p:blipFill>
        <p:spPr>
          <a:xfrm>
            <a:off x="4967973" y="2244294"/>
            <a:ext cx="6580559" cy="3439266"/>
          </a:xfrm>
          <a:prstGeom prst="rect">
            <a:avLst/>
          </a:prstGeom>
        </p:spPr>
      </p:pic>
      <p:grpSp>
        <p:nvGrpSpPr>
          <p:cNvPr id="16" name="Group 15">
            <a:extLst>
              <a:ext uri="{FF2B5EF4-FFF2-40B4-BE49-F238E27FC236}">
                <a16:creationId xmlns:a16="http://schemas.microsoft.com/office/drawing/2014/main" id="{5995D10D-E9C9-47DB-AE7E-801FEF38F5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19290" y="1"/>
            <a:ext cx="972709" cy="1935307"/>
            <a:chOff x="10918968" y="713127"/>
            <a:chExt cx="1273032" cy="2532832"/>
          </a:xfrm>
        </p:grpSpPr>
        <p:sp>
          <p:nvSpPr>
            <p:cNvPr id="17" name="Rectangle 16">
              <a:extLst>
                <a:ext uri="{FF2B5EF4-FFF2-40B4-BE49-F238E27FC236}">
                  <a16:creationId xmlns:a16="http://schemas.microsoft.com/office/drawing/2014/main" id="{CC1A72C6-3DE4-4EC3-9AD5-9E0D40D8CE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Isosceles Triangle 17">
              <a:extLst>
                <a:ext uri="{FF2B5EF4-FFF2-40B4-BE49-F238E27FC236}">
                  <a16:creationId xmlns:a16="http://schemas.microsoft.com/office/drawing/2014/main" id="{0B0DA1F1-C391-4EDF-9FE0-23E86E1377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a:xfrm>
            <a:off x="8805333" y="6356350"/>
            <a:ext cx="2743200" cy="365125"/>
          </a:xfrm>
        </p:spPr>
        <p:txBody>
          <a:bodyPr vert="horz" lIns="91440" tIns="45720" rIns="91440" bIns="45720" rtlCol="0" anchor="ctr">
            <a:normAutofit/>
          </a:bodyPr>
          <a:lstStyle/>
          <a:p>
            <a:pPr>
              <a:spcAft>
                <a:spcPts val="600"/>
              </a:spcAft>
            </a:pPr>
            <a:fld id="{5075537C-CA84-1446-933C-8E9D027F9201}" type="slidenum">
              <a:rPr lang="en-US" sz="1200" smtClean="0">
                <a:solidFill>
                  <a:schemeClr val="tx1">
                    <a:tint val="75000"/>
                  </a:schemeClr>
                </a:solidFill>
                <a:latin typeface="+mn-lt"/>
              </a:rPr>
              <a:pPr>
                <a:spcAft>
                  <a:spcPts val="600"/>
                </a:spcAft>
              </a:pPr>
              <a:t>20</a:t>
            </a:fld>
            <a:endParaRPr lang="en-US" sz="1200">
              <a:solidFill>
                <a:schemeClr val="tx1">
                  <a:tint val="75000"/>
                </a:schemeClr>
              </a:solidFill>
              <a:latin typeface="+mn-lt"/>
            </a:endParaRPr>
          </a:p>
        </p:txBody>
      </p:sp>
    </p:spTree>
    <p:extLst>
      <p:ext uri="{BB962C8B-B14F-4D97-AF65-F5344CB8AC3E}">
        <p14:creationId xmlns:p14="http://schemas.microsoft.com/office/powerpoint/2010/main" val="800901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21</a:t>
            </a:fld>
            <a:endParaRPr lang="en-US"/>
          </a:p>
        </p:txBody>
      </p:sp>
      <p:sp>
        <p:nvSpPr>
          <p:cNvPr id="3" name="Content Placeholder 2">
            <a:extLst>
              <a:ext uri="{FF2B5EF4-FFF2-40B4-BE49-F238E27FC236}">
                <a16:creationId xmlns:a16="http://schemas.microsoft.com/office/drawing/2014/main" id="{373827F3-F386-AA4E-80ED-D86DEF8C158D}"/>
              </a:ext>
            </a:extLst>
          </p:cNvPr>
          <p:cNvSpPr>
            <a:spLocks noGrp="1"/>
          </p:cNvSpPr>
          <p:nvPr>
            <p:ph type="body" sz="half" idx="4294967295"/>
          </p:nvPr>
        </p:nvSpPr>
        <p:spPr>
          <a:xfrm>
            <a:off x="770011" y="2069756"/>
            <a:ext cx="10515600" cy="3811588"/>
          </a:xfrm>
          <a:prstGeom prst="rect">
            <a:avLst/>
          </a:prstGeom>
        </p:spPr>
        <p:txBody>
          <a:bodyPr>
            <a:normAutofit/>
          </a:bodyPr>
          <a:lstStyle/>
          <a:p>
            <a:pPr>
              <a:lnSpc>
                <a:spcPct val="100000"/>
              </a:lnSpc>
              <a:spcBef>
                <a:spcPts val="1400"/>
              </a:spcBef>
            </a:pPr>
            <a:r>
              <a:rPr lang="en-US" sz="2200" dirty="0">
                <a:solidFill>
                  <a:schemeClr val="accent3">
                    <a:lumMod val="25000"/>
                  </a:schemeClr>
                </a:solidFill>
                <a:latin typeface="Abadi" panose="020B0604020104020204" pitchFamily="34" charset="0"/>
              </a:rPr>
              <a:t>The plot below shows the Flight Number vs. Orbit type. We observe that in the LEO orbit, success is related to the number of flights whereas in the GTO orbit, there is no relationship between flight number and the orbit. </a:t>
            </a:r>
          </a:p>
          <a:p>
            <a:pPr>
              <a:lnSpc>
                <a:spcPct val="100000"/>
              </a:lnSpc>
              <a:spcBef>
                <a:spcPts val="1400"/>
              </a:spcBef>
            </a:pPr>
            <a:endParaRPr lang="en-US" sz="2200" dirty="0">
              <a:solidFill>
                <a:schemeClr val="accent3">
                  <a:lumMod val="25000"/>
                </a:schemeClr>
              </a:solidFill>
              <a:latin typeface="Abadi" panose="020B0604020104020204" pitchFamily="34" charset="0"/>
            </a:endParaRPr>
          </a:p>
          <a:p>
            <a:pPr marL="0" indent="0">
              <a:lnSpc>
                <a:spcPct val="100000"/>
              </a:lnSpc>
              <a:spcBef>
                <a:spcPts val="1400"/>
              </a:spcBef>
              <a:buNone/>
            </a:pPr>
            <a:endParaRPr lang="en-US" sz="2200" dirty="0">
              <a:solidFill>
                <a:schemeClr val="accent3">
                  <a:lumMod val="25000"/>
                </a:schemeClr>
              </a:solidFill>
              <a:latin typeface="Abadi" panose="020B0604020104020204" pitchFamily="34" charset="0"/>
            </a:endParaRPr>
          </a:p>
        </p:txBody>
      </p:sp>
      <p:sp>
        <p:nvSpPr>
          <p:cNvPr id="4" name="Title 1">
            <a:extLst>
              <a:ext uri="{FF2B5EF4-FFF2-40B4-BE49-F238E27FC236}">
                <a16:creationId xmlns:a16="http://schemas.microsoft.com/office/drawing/2014/main" id="{021C109C-C017-4D19-928F-AED25AC30125}"/>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Flight Number vs. Orbit Type</a:t>
            </a:r>
            <a:endParaRPr lang="en-US" dirty="0">
              <a:solidFill>
                <a:srgbClr val="0B49CB"/>
              </a:solidFill>
            </a:endParaRPr>
          </a:p>
        </p:txBody>
      </p:sp>
      <p:pic>
        <p:nvPicPr>
          <p:cNvPr id="6" name="Picture 5">
            <a:extLst>
              <a:ext uri="{FF2B5EF4-FFF2-40B4-BE49-F238E27FC236}">
                <a16:creationId xmlns:a16="http://schemas.microsoft.com/office/drawing/2014/main" id="{8951E6B5-1181-44B2-B572-5B835453A272}"/>
              </a:ext>
            </a:extLst>
          </p:cNvPr>
          <p:cNvPicPr>
            <a:picLocks noChangeAspect="1"/>
          </p:cNvPicPr>
          <p:nvPr/>
        </p:nvPicPr>
        <p:blipFill>
          <a:blip r:embed="rId3"/>
          <a:stretch>
            <a:fillRect/>
          </a:stretch>
        </p:blipFill>
        <p:spPr>
          <a:xfrm>
            <a:off x="1342767" y="3529484"/>
            <a:ext cx="8263457" cy="2105025"/>
          </a:xfrm>
          <a:prstGeom prst="rect">
            <a:avLst/>
          </a:prstGeom>
        </p:spPr>
      </p:pic>
    </p:spTree>
    <p:extLst>
      <p:ext uri="{BB962C8B-B14F-4D97-AF65-F5344CB8AC3E}">
        <p14:creationId xmlns:p14="http://schemas.microsoft.com/office/powerpoint/2010/main" val="11067275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22</a:t>
            </a:fld>
            <a:endParaRPr lang="en-US"/>
          </a:p>
        </p:txBody>
      </p:sp>
      <p:sp>
        <p:nvSpPr>
          <p:cNvPr id="3" name="Content Placeholder 2">
            <a:extLst>
              <a:ext uri="{FF2B5EF4-FFF2-40B4-BE49-F238E27FC236}">
                <a16:creationId xmlns:a16="http://schemas.microsoft.com/office/drawing/2014/main" id="{373827F3-F386-AA4E-80ED-D86DEF8C158D}"/>
              </a:ext>
            </a:extLst>
          </p:cNvPr>
          <p:cNvSpPr>
            <a:spLocks noGrp="1"/>
          </p:cNvSpPr>
          <p:nvPr>
            <p:ph type="body" sz="half" idx="4294967295"/>
          </p:nvPr>
        </p:nvSpPr>
        <p:spPr>
          <a:xfrm>
            <a:off x="770010" y="2057400"/>
            <a:ext cx="10687961" cy="3811588"/>
          </a:xfrm>
          <a:prstGeom prst="rect">
            <a:avLst/>
          </a:prstGeom>
        </p:spPr>
        <p:txBody>
          <a:bodyPr>
            <a:normAutofit/>
          </a:bodyPr>
          <a:lstStyle/>
          <a:p>
            <a:pPr>
              <a:lnSpc>
                <a:spcPct val="100000"/>
              </a:lnSpc>
              <a:spcBef>
                <a:spcPts val="1400"/>
              </a:spcBef>
            </a:pPr>
            <a:r>
              <a:rPr lang="en-US" sz="2200" dirty="0">
                <a:solidFill>
                  <a:schemeClr val="accent3">
                    <a:lumMod val="25000"/>
                  </a:schemeClr>
                </a:solidFill>
                <a:latin typeface="Abadi" panose="020B0604020104020204" pitchFamily="34" charset="0"/>
              </a:rPr>
              <a:t>We can observe that with heavy payloads, the successful landing are more for PO, LEO and ISS orbits.</a:t>
            </a:r>
          </a:p>
          <a:p>
            <a:pPr>
              <a:lnSpc>
                <a:spcPct val="100000"/>
              </a:lnSpc>
              <a:spcBef>
                <a:spcPts val="1400"/>
              </a:spcBef>
            </a:pPr>
            <a:endParaRPr lang="en-US" sz="2200" dirty="0">
              <a:solidFill>
                <a:schemeClr val="accent3">
                  <a:lumMod val="25000"/>
                </a:schemeClr>
              </a:solidFill>
              <a:latin typeface="Abadi" panose="020B0604020104020204" pitchFamily="34" charset="0"/>
            </a:endParaRPr>
          </a:p>
        </p:txBody>
      </p:sp>
      <p:sp>
        <p:nvSpPr>
          <p:cNvPr id="4" name="Title 1">
            <a:extLst>
              <a:ext uri="{FF2B5EF4-FFF2-40B4-BE49-F238E27FC236}">
                <a16:creationId xmlns:a16="http://schemas.microsoft.com/office/drawing/2014/main" id="{AFE7D9E4-306D-49E3-9AC4-15D566FC72AD}"/>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Payload vs. Orbit Type</a:t>
            </a:r>
            <a:endParaRPr lang="en-US" dirty="0">
              <a:solidFill>
                <a:srgbClr val="0B49CB"/>
              </a:solidFill>
            </a:endParaRPr>
          </a:p>
        </p:txBody>
      </p:sp>
      <p:pic>
        <p:nvPicPr>
          <p:cNvPr id="6" name="Picture 5">
            <a:extLst>
              <a:ext uri="{FF2B5EF4-FFF2-40B4-BE49-F238E27FC236}">
                <a16:creationId xmlns:a16="http://schemas.microsoft.com/office/drawing/2014/main" id="{7CE4FF73-7CCD-42C6-9E43-B655DCDF241B}"/>
              </a:ext>
            </a:extLst>
          </p:cNvPr>
          <p:cNvPicPr>
            <a:picLocks noChangeAspect="1"/>
          </p:cNvPicPr>
          <p:nvPr/>
        </p:nvPicPr>
        <p:blipFill>
          <a:blip r:embed="rId3"/>
          <a:stretch>
            <a:fillRect/>
          </a:stretch>
        </p:blipFill>
        <p:spPr>
          <a:xfrm>
            <a:off x="1146614" y="3429000"/>
            <a:ext cx="9082607" cy="2095500"/>
          </a:xfrm>
          <a:prstGeom prst="rect">
            <a:avLst/>
          </a:prstGeom>
        </p:spPr>
      </p:pic>
    </p:spTree>
    <p:extLst>
      <p:ext uri="{BB962C8B-B14F-4D97-AF65-F5344CB8AC3E}">
        <p14:creationId xmlns:p14="http://schemas.microsoft.com/office/powerpoint/2010/main" val="31453405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D4811A61-F7FB-4B19-9ED1-E0E2554A5BE8}"/>
              </a:ext>
            </a:extLst>
          </p:cNvPr>
          <p:cNvSpPr txBox="1">
            <a:spLocks/>
          </p:cNvSpPr>
          <p:nvPr/>
        </p:nvSpPr>
        <p:spPr>
          <a:xfrm>
            <a:off x="643467" y="321734"/>
            <a:ext cx="10905066" cy="113573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pPr>
              <a:spcAft>
                <a:spcPts val="600"/>
              </a:spcAft>
            </a:pPr>
            <a:r>
              <a:rPr lang="en-US" sz="3600" kern="1200" dirty="0">
                <a:solidFill>
                  <a:srgbClr val="0B49CB"/>
                </a:solidFill>
                <a:latin typeface="Abadi" panose="020B0604020104020204" pitchFamily="34" charset="0"/>
                <a:ea typeface="+mj-ea"/>
                <a:cs typeface="+mj-cs"/>
              </a:rPr>
              <a:t>Launch Success Yearly Trend</a:t>
            </a:r>
          </a:p>
        </p:txBody>
      </p:sp>
      <p:sp>
        <p:nvSpPr>
          <p:cNvPr id="3" name="Content Placeholder 2">
            <a:extLst>
              <a:ext uri="{FF2B5EF4-FFF2-40B4-BE49-F238E27FC236}">
                <a16:creationId xmlns:a16="http://schemas.microsoft.com/office/drawing/2014/main" id="{373827F3-F386-AA4E-80ED-D86DEF8C158D}"/>
              </a:ext>
            </a:extLst>
          </p:cNvPr>
          <p:cNvSpPr>
            <a:spLocks noGrp="1"/>
          </p:cNvSpPr>
          <p:nvPr>
            <p:ph type="body" sz="half" idx="4294967295"/>
          </p:nvPr>
        </p:nvSpPr>
        <p:spPr>
          <a:xfrm>
            <a:off x="643469" y="1782981"/>
            <a:ext cx="4008384" cy="4393982"/>
          </a:xfrm>
          <a:prstGeom prst="rect">
            <a:avLst/>
          </a:prstGeom>
        </p:spPr>
        <p:txBody>
          <a:bodyPr vert="horz" lIns="91440" tIns="45720" rIns="91440" bIns="45720" rtlCol="0">
            <a:normAutofit/>
          </a:bodyPr>
          <a:lstStyle/>
          <a:p>
            <a:pPr>
              <a:spcBef>
                <a:spcPts val="1400"/>
              </a:spcBef>
            </a:pPr>
            <a:r>
              <a:rPr lang="en-US" sz="2200" dirty="0">
                <a:latin typeface="Abadi" panose="020B0604020104020204" pitchFamily="34" charset="0"/>
              </a:rPr>
              <a:t>From the plot, we can observe that success rate since 2013 kept on increasing till 2020.</a:t>
            </a:r>
          </a:p>
          <a:p>
            <a:pPr>
              <a:spcBef>
                <a:spcPts val="1400"/>
              </a:spcBef>
            </a:pPr>
            <a:endParaRPr lang="en-US" sz="2000" dirty="0"/>
          </a:p>
        </p:txBody>
      </p:sp>
      <p:grpSp>
        <p:nvGrpSpPr>
          <p:cNvPr id="12" name="Group 11">
            <a:extLst>
              <a:ext uri="{FF2B5EF4-FFF2-40B4-BE49-F238E27FC236}">
                <a16:creationId xmlns:a16="http://schemas.microsoft.com/office/drawing/2014/main" id="{828A5161-06F1-46CF-8AD7-844680A59E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601497"/>
            <a:ext cx="1014060" cy="2017580"/>
            <a:chOff x="0" y="4601497"/>
            <a:chExt cx="1014060" cy="2017580"/>
          </a:xfrm>
        </p:grpSpPr>
        <p:sp>
          <p:nvSpPr>
            <p:cNvPr id="13" name="Isosceles Triangle 12">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5995D10D-E9C9-47DB-AE7E-801FEF38F5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19290" y="1"/>
            <a:ext cx="972709" cy="1935307"/>
            <a:chOff x="10918968" y="713127"/>
            <a:chExt cx="1273032" cy="2532832"/>
          </a:xfrm>
        </p:grpSpPr>
        <p:sp>
          <p:nvSpPr>
            <p:cNvPr id="17" name="Rectangle 16">
              <a:extLst>
                <a:ext uri="{FF2B5EF4-FFF2-40B4-BE49-F238E27FC236}">
                  <a16:creationId xmlns:a16="http://schemas.microsoft.com/office/drawing/2014/main" id="{CC1A72C6-3DE4-4EC3-9AD5-9E0D40D8CE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Isosceles Triangle 17">
              <a:extLst>
                <a:ext uri="{FF2B5EF4-FFF2-40B4-BE49-F238E27FC236}">
                  <a16:creationId xmlns:a16="http://schemas.microsoft.com/office/drawing/2014/main" id="{0B0DA1F1-C391-4EDF-9FE0-23E86E1377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a:xfrm>
            <a:off x="8805333" y="6356350"/>
            <a:ext cx="2743200" cy="365125"/>
          </a:xfrm>
        </p:spPr>
        <p:txBody>
          <a:bodyPr vert="horz" lIns="91440" tIns="45720" rIns="91440" bIns="45720" rtlCol="0" anchor="ctr">
            <a:normAutofit/>
          </a:bodyPr>
          <a:lstStyle/>
          <a:p>
            <a:pPr>
              <a:spcAft>
                <a:spcPts val="600"/>
              </a:spcAft>
            </a:pPr>
            <a:fld id="{5075537C-CA84-1446-933C-8E9D027F9201}" type="slidenum">
              <a:rPr lang="en-US" sz="1200" smtClean="0">
                <a:solidFill>
                  <a:schemeClr val="tx1">
                    <a:tint val="75000"/>
                  </a:schemeClr>
                </a:solidFill>
                <a:latin typeface="+mn-lt"/>
              </a:rPr>
              <a:pPr>
                <a:spcAft>
                  <a:spcPts val="600"/>
                </a:spcAft>
              </a:pPr>
              <a:t>23</a:t>
            </a:fld>
            <a:endParaRPr lang="en-US" sz="1200">
              <a:solidFill>
                <a:schemeClr val="tx1">
                  <a:tint val="75000"/>
                </a:schemeClr>
              </a:solidFill>
              <a:latin typeface="+mn-lt"/>
            </a:endParaRPr>
          </a:p>
        </p:txBody>
      </p:sp>
      <p:pic>
        <p:nvPicPr>
          <p:cNvPr id="15" name="Picture 14">
            <a:extLst>
              <a:ext uri="{FF2B5EF4-FFF2-40B4-BE49-F238E27FC236}">
                <a16:creationId xmlns:a16="http://schemas.microsoft.com/office/drawing/2014/main" id="{D504E95A-B6F2-4A67-922F-F513B07630F5}"/>
              </a:ext>
            </a:extLst>
          </p:cNvPr>
          <p:cNvPicPr>
            <a:picLocks noChangeAspect="1"/>
          </p:cNvPicPr>
          <p:nvPr/>
        </p:nvPicPr>
        <p:blipFill>
          <a:blip r:embed="rId2"/>
          <a:stretch>
            <a:fillRect/>
          </a:stretch>
        </p:blipFill>
        <p:spPr>
          <a:xfrm>
            <a:off x="4712822" y="1935308"/>
            <a:ext cx="6303910" cy="3602565"/>
          </a:xfrm>
          <a:prstGeom prst="rect">
            <a:avLst/>
          </a:prstGeom>
        </p:spPr>
      </p:pic>
    </p:spTree>
    <p:extLst>
      <p:ext uri="{BB962C8B-B14F-4D97-AF65-F5344CB8AC3E}">
        <p14:creationId xmlns:p14="http://schemas.microsoft.com/office/powerpoint/2010/main" val="20681023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D4811A61-F7FB-4B19-9ED1-E0E2554A5BE8}"/>
              </a:ext>
            </a:extLst>
          </p:cNvPr>
          <p:cNvSpPr txBox="1">
            <a:spLocks/>
          </p:cNvSpPr>
          <p:nvPr/>
        </p:nvSpPr>
        <p:spPr>
          <a:xfrm>
            <a:off x="643467" y="321734"/>
            <a:ext cx="10905066" cy="113573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700" b="0" i="0" u="none" strike="noStrike" kern="1200" cap="none" spc="0" normalizeH="0" baseline="0" noProof="0" dirty="0">
                <a:ln>
                  <a:noFill/>
                </a:ln>
                <a:solidFill>
                  <a:srgbClr val="0B49CB"/>
                </a:solidFill>
                <a:effectLst/>
                <a:uLnTx/>
                <a:uFillTx/>
                <a:latin typeface="Abadi"/>
                <a:ea typeface="+mn-ea"/>
                <a:cs typeface="+mn-cs"/>
              </a:rPr>
              <a:t>All Launch Site Names</a:t>
            </a:r>
          </a:p>
        </p:txBody>
      </p:sp>
      <p:sp>
        <p:nvSpPr>
          <p:cNvPr id="3" name="Content Placeholder 2">
            <a:extLst>
              <a:ext uri="{FF2B5EF4-FFF2-40B4-BE49-F238E27FC236}">
                <a16:creationId xmlns:a16="http://schemas.microsoft.com/office/drawing/2014/main" id="{373827F3-F386-AA4E-80ED-D86DEF8C158D}"/>
              </a:ext>
            </a:extLst>
          </p:cNvPr>
          <p:cNvSpPr>
            <a:spLocks noGrp="1"/>
          </p:cNvSpPr>
          <p:nvPr>
            <p:ph type="body" sz="half" idx="4294967295"/>
          </p:nvPr>
        </p:nvSpPr>
        <p:spPr>
          <a:xfrm>
            <a:off x="643469" y="1782981"/>
            <a:ext cx="4008384" cy="4393982"/>
          </a:xfrm>
          <a:prstGeom prst="rect">
            <a:avLst/>
          </a:prstGeom>
        </p:spPr>
        <p:txBody>
          <a:bodyPr vert="horz" lIns="91440" tIns="45720" rIns="91440" bIns="45720" rtlCol="0">
            <a:normAutofit/>
          </a:bodyPr>
          <a:lstStyle/>
          <a:p>
            <a:pPr>
              <a:spcBef>
                <a:spcPts val="1400"/>
              </a:spcBef>
            </a:pPr>
            <a:r>
              <a:rPr lang="en-US" sz="2200" dirty="0">
                <a:latin typeface="Abadi" panose="020B0604020104020204" pitchFamily="34" charset="0"/>
              </a:rPr>
              <a:t>We used the key word </a:t>
            </a:r>
            <a:r>
              <a:rPr lang="en-US" sz="2200" b="1" dirty="0">
                <a:latin typeface="Abadi" panose="020B0604020104020204" pitchFamily="34" charset="0"/>
              </a:rPr>
              <a:t>DISTINCT</a:t>
            </a:r>
            <a:r>
              <a:rPr lang="en-US" sz="2200" dirty="0">
                <a:latin typeface="Abadi" panose="020B0604020104020204" pitchFamily="34" charset="0"/>
              </a:rPr>
              <a:t> to show only unique launch sites from the SpaceX data.</a:t>
            </a:r>
          </a:p>
          <a:p>
            <a:pPr>
              <a:spcBef>
                <a:spcPts val="1400"/>
              </a:spcBef>
            </a:pPr>
            <a:endParaRPr lang="en-US" sz="2000" dirty="0"/>
          </a:p>
        </p:txBody>
      </p:sp>
      <p:grpSp>
        <p:nvGrpSpPr>
          <p:cNvPr id="25" name="Group 24">
            <a:extLst>
              <a:ext uri="{FF2B5EF4-FFF2-40B4-BE49-F238E27FC236}">
                <a16:creationId xmlns:a16="http://schemas.microsoft.com/office/drawing/2014/main" id="{828A5161-06F1-46CF-8AD7-844680A59E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601497"/>
            <a:ext cx="1014060" cy="2017580"/>
            <a:chOff x="0" y="4601497"/>
            <a:chExt cx="1014060" cy="2017580"/>
          </a:xfrm>
        </p:grpSpPr>
        <p:sp>
          <p:nvSpPr>
            <p:cNvPr id="26" name="Isosceles Triangle 25">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6" name="Picture 5">
            <a:extLst>
              <a:ext uri="{FF2B5EF4-FFF2-40B4-BE49-F238E27FC236}">
                <a16:creationId xmlns:a16="http://schemas.microsoft.com/office/drawing/2014/main" id="{8219A12C-8F7F-48BC-B0D9-9B376D10D35E}"/>
              </a:ext>
            </a:extLst>
          </p:cNvPr>
          <p:cNvPicPr>
            <a:picLocks noChangeAspect="1"/>
          </p:cNvPicPr>
          <p:nvPr/>
        </p:nvPicPr>
        <p:blipFill>
          <a:blip r:embed="rId2"/>
          <a:stretch>
            <a:fillRect/>
          </a:stretch>
        </p:blipFill>
        <p:spPr>
          <a:xfrm>
            <a:off x="5295320" y="2196715"/>
            <a:ext cx="6253212" cy="3534424"/>
          </a:xfrm>
          <a:prstGeom prst="rect">
            <a:avLst/>
          </a:prstGeom>
        </p:spPr>
      </p:pic>
      <p:grpSp>
        <p:nvGrpSpPr>
          <p:cNvPr id="29" name="Group 28">
            <a:extLst>
              <a:ext uri="{FF2B5EF4-FFF2-40B4-BE49-F238E27FC236}">
                <a16:creationId xmlns:a16="http://schemas.microsoft.com/office/drawing/2014/main" id="{5995D10D-E9C9-47DB-AE7E-801FEF38F5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19290" y="1"/>
            <a:ext cx="972709" cy="1935307"/>
            <a:chOff x="10918968" y="713127"/>
            <a:chExt cx="1273032" cy="2532832"/>
          </a:xfrm>
        </p:grpSpPr>
        <p:sp>
          <p:nvSpPr>
            <p:cNvPr id="30" name="Rectangle 29">
              <a:extLst>
                <a:ext uri="{FF2B5EF4-FFF2-40B4-BE49-F238E27FC236}">
                  <a16:creationId xmlns:a16="http://schemas.microsoft.com/office/drawing/2014/main" id="{CC1A72C6-3DE4-4EC3-9AD5-9E0D40D8CE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Isosceles Triangle 30">
              <a:extLst>
                <a:ext uri="{FF2B5EF4-FFF2-40B4-BE49-F238E27FC236}">
                  <a16:creationId xmlns:a16="http://schemas.microsoft.com/office/drawing/2014/main" id="{0B0DA1F1-C391-4EDF-9FE0-23E86E1377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a:xfrm>
            <a:off x="8805333" y="6356350"/>
            <a:ext cx="2743200" cy="365125"/>
          </a:xfrm>
        </p:spPr>
        <p:txBody>
          <a:bodyPr vert="horz" lIns="91440" tIns="45720" rIns="91440" bIns="45720" rtlCol="0" anchor="ctr">
            <a:normAutofit/>
          </a:bodyPr>
          <a:lstStyle/>
          <a:p>
            <a:pPr>
              <a:spcAft>
                <a:spcPts val="600"/>
              </a:spcAft>
            </a:pPr>
            <a:fld id="{5075537C-CA84-1446-933C-8E9D027F9201}" type="slidenum">
              <a:rPr lang="en-US" sz="1200" smtClean="0">
                <a:solidFill>
                  <a:schemeClr val="tx1">
                    <a:tint val="75000"/>
                  </a:schemeClr>
                </a:solidFill>
                <a:latin typeface="+mn-lt"/>
              </a:rPr>
              <a:pPr>
                <a:spcAft>
                  <a:spcPts val="600"/>
                </a:spcAft>
              </a:pPr>
              <a:t>24</a:t>
            </a:fld>
            <a:endParaRPr lang="en-US" sz="1200">
              <a:solidFill>
                <a:schemeClr val="tx1">
                  <a:tint val="75000"/>
                </a:schemeClr>
              </a:solidFill>
              <a:latin typeface="+mn-lt"/>
            </a:endParaRPr>
          </a:p>
        </p:txBody>
      </p:sp>
    </p:spTree>
    <p:extLst>
      <p:ext uri="{BB962C8B-B14F-4D97-AF65-F5344CB8AC3E}">
        <p14:creationId xmlns:p14="http://schemas.microsoft.com/office/powerpoint/2010/main" val="29142339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25</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10222887" cy="4122999"/>
          </a:xfrm>
          <a:prstGeom prst="rect">
            <a:avLst/>
          </a:prstGeom>
        </p:spPr>
        <p:txBody>
          <a:bodyPr>
            <a:normAutofit/>
          </a:bodyPr>
          <a:lstStyle/>
          <a:p>
            <a:pPr>
              <a:lnSpc>
                <a:spcPct val="100000"/>
              </a:lnSpc>
              <a:spcBef>
                <a:spcPts val="1400"/>
              </a:spcBef>
            </a:pPr>
            <a:endParaRPr lang="en-US" sz="2200" dirty="0">
              <a:solidFill>
                <a:schemeClr val="accent3">
                  <a:lumMod val="25000"/>
                </a:schemeClr>
              </a:solidFill>
              <a:latin typeface="Abadi" panose="020B0604020104020204" pitchFamily="34" charset="0"/>
            </a:endParaRPr>
          </a:p>
          <a:p>
            <a:pPr>
              <a:lnSpc>
                <a:spcPct val="100000"/>
              </a:lnSpc>
              <a:spcBef>
                <a:spcPts val="1400"/>
              </a:spcBef>
            </a:pPr>
            <a:endParaRPr lang="en-US" sz="2200" dirty="0">
              <a:solidFill>
                <a:schemeClr val="accent3">
                  <a:lumMod val="25000"/>
                </a:schemeClr>
              </a:solidFill>
              <a:latin typeface="Abadi" panose="020B0604020104020204" pitchFamily="34" charset="0"/>
            </a:endParaRPr>
          </a:p>
          <a:p>
            <a:pPr>
              <a:lnSpc>
                <a:spcPct val="100000"/>
              </a:lnSpc>
              <a:spcBef>
                <a:spcPts val="1400"/>
              </a:spcBef>
            </a:pPr>
            <a:endParaRPr lang="en-US" sz="2200" dirty="0">
              <a:solidFill>
                <a:schemeClr val="accent3">
                  <a:lumMod val="25000"/>
                </a:schemeClr>
              </a:solidFill>
              <a:latin typeface="Abadi" panose="020B0604020104020204" pitchFamily="34" charset="0"/>
            </a:endParaRPr>
          </a:p>
          <a:p>
            <a:pPr>
              <a:lnSpc>
                <a:spcPct val="100000"/>
              </a:lnSpc>
              <a:spcBef>
                <a:spcPts val="1400"/>
              </a:spcBef>
            </a:pPr>
            <a:endParaRPr lang="en-US" sz="2200" dirty="0">
              <a:solidFill>
                <a:schemeClr val="accent3">
                  <a:lumMod val="25000"/>
                </a:schemeClr>
              </a:solidFill>
              <a:latin typeface="Abadi" panose="020B0604020104020204" pitchFamily="34" charset="0"/>
            </a:endParaRPr>
          </a:p>
          <a:p>
            <a:pPr>
              <a:lnSpc>
                <a:spcPct val="100000"/>
              </a:lnSpc>
              <a:spcBef>
                <a:spcPts val="1400"/>
              </a:spcBef>
            </a:pPr>
            <a:endParaRPr lang="en-US" sz="2200" dirty="0">
              <a:solidFill>
                <a:schemeClr val="accent3">
                  <a:lumMod val="25000"/>
                </a:schemeClr>
              </a:solidFill>
              <a:latin typeface="Abadi" panose="020B0604020104020204" pitchFamily="34" charset="0"/>
            </a:endParaRPr>
          </a:p>
          <a:p>
            <a:pPr>
              <a:lnSpc>
                <a:spcPct val="100000"/>
              </a:lnSpc>
              <a:spcBef>
                <a:spcPts val="1400"/>
              </a:spcBef>
            </a:pPr>
            <a:endParaRPr lang="en-US" sz="2200" dirty="0">
              <a:solidFill>
                <a:schemeClr val="accent3">
                  <a:lumMod val="25000"/>
                </a:schemeClr>
              </a:solidFill>
              <a:latin typeface="Abadi" panose="020B0604020104020204" pitchFamily="34" charset="0"/>
            </a:endParaRPr>
          </a:p>
          <a:p>
            <a:pPr>
              <a:lnSpc>
                <a:spcPct val="100000"/>
              </a:lnSpc>
              <a:spcBef>
                <a:spcPts val="1400"/>
              </a:spcBef>
            </a:pPr>
            <a:r>
              <a:rPr lang="en-US" sz="2200" dirty="0">
                <a:solidFill>
                  <a:schemeClr val="accent3">
                    <a:lumMod val="25000"/>
                  </a:schemeClr>
                </a:solidFill>
                <a:latin typeface="Abadi" panose="020B0604020104020204" pitchFamily="34" charset="0"/>
              </a:rPr>
              <a:t>We used the query above to display 5 records where launch sites begin with `CCA`</a:t>
            </a:r>
          </a:p>
        </p:txBody>
      </p:sp>
      <p:sp>
        <p:nvSpPr>
          <p:cNvPr id="3" name="Title 1">
            <a:extLst>
              <a:ext uri="{FF2B5EF4-FFF2-40B4-BE49-F238E27FC236}">
                <a16:creationId xmlns:a16="http://schemas.microsoft.com/office/drawing/2014/main" id="{557C8CBA-1A0E-4CDF-A451-7AAA44D39839}"/>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Launch Site Names Begin with 'CCA'</a:t>
            </a:r>
          </a:p>
        </p:txBody>
      </p:sp>
      <p:pic>
        <p:nvPicPr>
          <p:cNvPr id="6" name="Picture 5">
            <a:extLst>
              <a:ext uri="{FF2B5EF4-FFF2-40B4-BE49-F238E27FC236}">
                <a16:creationId xmlns:a16="http://schemas.microsoft.com/office/drawing/2014/main" id="{6CD72A1D-7EAF-40EC-AFC1-830938F48A8F}"/>
              </a:ext>
            </a:extLst>
          </p:cNvPr>
          <p:cNvPicPr>
            <a:picLocks noChangeAspect="1"/>
          </p:cNvPicPr>
          <p:nvPr/>
        </p:nvPicPr>
        <p:blipFill>
          <a:blip r:embed="rId3"/>
          <a:stretch>
            <a:fillRect/>
          </a:stretch>
        </p:blipFill>
        <p:spPr>
          <a:xfrm>
            <a:off x="867266" y="1626375"/>
            <a:ext cx="10028374" cy="2907149"/>
          </a:xfrm>
          <a:prstGeom prst="rect">
            <a:avLst/>
          </a:prstGeom>
        </p:spPr>
      </p:pic>
    </p:spTree>
    <p:extLst>
      <p:ext uri="{BB962C8B-B14F-4D97-AF65-F5344CB8AC3E}">
        <p14:creationId xmlns:p14="http://schemas.microsoft.com/office/powerpoint/2010/main" val="17947386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26</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a:normAutofit/>
          </a:bodyPr>
          <a:lstStyle/>
          <a:p>
            <a:pPr>
              <a:lnSpc>
                <a:spcPct val="100000"/>
              </a:lnSpc>
              <a:spcBef>
                <a:spcPts val="1400"/>
              </a:spcBef>
            </a:pPr>
            <a:r>
              <a:rPr lang="en-US" sz="2200" dirty="0">
                <a:solidFill>
                  <a:schemeClr val="accent3">
                    <a:lumMod val="25000"/>
                  </a:schemeClr>
                </a:solidFill>
                <a:latin typeface="Abadi" panose="020B0604020104020204" pitchFamily="34" charset="0"/>
              </a:rPr>
              <a:t>We calculated the total payload carried by boosters from NASA as 45596 using the query below</a:t>
            </a:r>
          </a:p>
        </p:txBody>
      </p:sp>
      <p:sp>
        <p:nvSpPr>
          <p:cNvPr id="3" name="Title 1">
            <a:extLst>
              <a:ext uri="{FF2B5EF4-FFF2-40B4-BE49-F238E27FC236}">
                <a16:creationId xmlns:a16="http://schemas.microsoft.com/office/drawing/2014/main" id="{FD161C47-0660-416F-B4C2-25E4D35D69FD}"/>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Total Payload Mass</a:t>
            </a:r>
          </a:p>
        </p:txBody>
      </p:sp>
      <p:pic>
        <p:nvPicPr>
          <p:cNvPr id="6" name="Picture 5">
            <a:extLst>
              <a:ext uri="{FF2B5EF4-FFF2-40B4-BE49-F238E27FC236}">
                <a16:creationId xmlns:a16="http://schemas.microsoft.com/office/drawing/2014/main" id="{33B4819F-7AAA-4F12-A671-FF7793A81637}"/>
              </a:ext>
            </a:extLst>
          </p:cNvPr>
          <p:cNvPicPr>
            <a:picLocks noChangeAspect="1"/>
          </p:cNvPicPr>
          <p:nvPr/>
        </p:nvPicPr>
        <p:blipFill>
          <a:blip r:embed="rId3"/>
          <a:stretch>
            <a:fillRect/>
          </a:stretch>
        </p:blipFill>
        <p:spPr>
          <a:xfrm>
            <a:off x="1858945" y="2833181"/>
            <a:ext cx="7415269" cy="2942144"/>
          </a:xfrm>
          <a:prstGeom prst="rect">
            <a:avLst/>
          </a:prstGeom>
        </p:spPr>
      </p:pic>
    </p:spTree>
    <p:extLst>
      <p:ext uri="{BB962C8B-B14F-4D97-AF65-F5344CB8AC3E}">
        <p14:creationId xmlns:p14="http://schemas.microsoft.com/office/powerpoint/2010/main" val="40100147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AFD52E17-48CB-4D60-BD56-71D197A29B38}"/>
              </a:ext>
            </a:extLst>
          </p:cNvPr>
          <p:cNvSpPr txBox="1">
            <a:spLocks/>
          </p:cNvSpPr>
          <p:nvPr/>
        </p:nvSpPr>
        <p:spPr>
          <a:xfrm>
            <a:off x="648929" y="629266"/>
            <a:ext cx="3505495" cy="162232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pPr>
              <a:spcAft>
                <a:spcPts val="600"/>
              </a:spcAft>
            </a:pPr>
            <a:r>
              <a:rPr lang="en-US" sz="3700" kern="1200" dirty="0">
                <a:solidFill>
                  <a:srgbClr val="0B49CB"/>
                </a:solidFill>
                <a:latin typeface="Abadi" panose="020B0604020104020204" pitchFamily="34" charset="0"/>
                <a:ea typeface="+mj-ea"/>
                <a:cs typeface="+mj-cs"/>
              </a:rPr>
              <a:t>Average Payload Mass by F9 v1.1</a:t>
            </a:r>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648931" y="2438400"/>
            <a:ext cx="3505494" cy="3785419"/>
          </a:xfrm>
          <a:prstGeom prst="rect">
            <a:avLst/>
          </a:prstGeom>
        </p:spPr>
        <p:txBody>
          <a:bodyPr vert="horz" lIns="91440" tIns="45720" rIns="91440" bIns="45720" rtlCol="0">
            <a:normAutofit/>
          </a:bodyPr>
          <a:lstStyle/>
          <a:p>
            <a:pPr>
              <a:spcBef>
                <a:spcPts val="1400"/>
              </a:spcBef>
            </a:pPr>
            <a:r>
              <a:rPr lang="en-US" sz="2000" dirty="0">
                <a:latin typeface="Abadi" panose="020B0604020104020204" pitchFamily="34" charset="0"/>
              </a:rPr>
              <a:t>We calculated the average payload mass carried by booster version F9 v1.1 as 2928.4</a:t>
            </a:r>
          </a:p>
          <a:p>
            <a:pPr>
              <a:spcBef>
                <a:spcPts val="1400"/>
              </a:spcBef>
            </a:pPr>
            <a:endParaRPr lang="en-US" sz="2000" dirty="0"/>
          </a:p>
        </p:txBody>
      </p:sp>
      <p:sp>
        <p:nvSpPr>
          <p:cNvPr id="11" name="Rectangle 10">
            <a:extLst>
              <a:ext uri="{FF2B5EF4-FFF2-40B4-BE49-F238E27FC236}">
                <a16:creationId xmlns:a16="http://schemas.microsoft.com/office/drawing/2014/main" id="{5E39A796-BE83-48B1-B33F-35C4A32AA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9">
            <a:extLst>
              <a:ext uri="{FF2B5EF4-FFF2-40B4-BE49-F238E27FC236}">
                <a16:creationId xmlns:a16="http://schemas.microsoft.com/office/drawing/2014/main" id="{72F84B47-E267-4194-8194-831DB7B55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557784"/>
            <a:ext cx="6584098"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0AAB3F00-59E3-4E6C-BD22-2D4FB041F6E4}"/>
              </a:ext>
            </a:extLst>
          </p:cNvPr>
          <p:cNvPicPr>
            <a:picLocks noChangeAspect="1"/>
          </p:cNvPicPr>
          <p:nvPr/>
        </p:nvPicPr>
        <p:blipFill>
          <a:blip r:embed="rId2"/>
          <a:stretch>
            <a:fillRect/>
          </a:stretch>
        </p:blipFill>
        <p:spPr>
          <a:xfrm>
            <a:off x="5405862" y="2217937"/>
            <a:ext cx="6019331" cy="2418879"/>
          </a:xfrm>
          <a:prstGeom prst="rect">
            <a:avLst/>
          </a:prstGeom>
          <a:effectLst/>
        </p:spPr>
      </p:pic>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5075537C-CA84-1446-933C-8E9D027F9201}" type="slidenum">
              <a:rPr lang="en-US" sz="1200">
                <a:solidFill>
                  <a:srgbClr val="303030"/>
                </a:solidFill>
                <a:latin typeface="+mn-lt"/>
              </a:rPr>
              <a:pPr>
                <a:spcAft>
                  <a:spcPts val="600"/>
                </a:spcAft>
              </a:pPr>
              <a:t>27</a:t>
            </a:fld>
            <a:endParaRPr lang="en-US" sz="1200">
              <a:solidFill>
                <a:srgbClr val="303030"/>
              </a:solidFill>
              <a:latin typeface="+mn-lt"/>
            </a:endParaRPr>
          </a:p>
        </p:txBody>
      </p:sp>
    </p:spTree>
    <p:extLst>
      <p:ext uri="{BB962C8B-B14F-4D97-AF65-F5344CB8AC3E}">
        <p14:creationId xmlns:p14="http://schemas.microsoft.com/office/powerpoint/2010/main" val="27355605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1">
            <a:extLst>
              <a:ext uri="{FF2B5EF4-FFF2-40B4-BE49-F238E27FC236}">
                <a16:creationId xmlns:a16="http://schemas.microsoft.com/office/drawing/2014/main" id="{7F12CD3C-55B3-4129-817A-84D0B28F713E}"/>
              </a:ext>
            </a:extLst>
          </p:cNvPr>
          <p:cNvSpPr txBox="1">
            <a:spLocks/>
          </p:cNvSpPr>
          <p:nvPr/>
        </p:nvSpPr>
        <p:spPr>
          <a:xfrm>
            <a:off x="643467" y="321734"/>
            <a:ext cx="10905066" cy="113573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pPr>
              <a:spcAft>
                <a:spcPts val="600"/>
              </a:spcAft>
            </a:pPr>
            <a:r>
              <a:rPr lang="en-US" sz="3600" kern="1200" dirty="0">
                <a:solidFill>
                  <a:srgbClr val="0B49CB"/>
                </a:solidFill>
                <a:latin typeface="Abadi" panose="020B0604020104020204" pitchFamily="34" charset="0"/>
                <a:ea typeface="+mj-ea"/>
                <a:cs typeface="+mj-cs"/>
              </a:rPr>
              <a:t>First Successful Ground Landing Date</a:t>
            </a:r>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643469" y="1782981"/>
            <a:ext cx="4008384" cy="4393982"/>
          </a:xfrm>
          <a:prstGeom prst="rect">
            <a:avLst/>
          </a:prstGeom>
        </p:spPr>
        <p:txBody>
          <a:bodyPr vert="horz" lIns="91440" tIns="45720" rIns="91440" bIns="45720" rtlCol="0">
            <a:normAutofit/>
          </a:bodyPr>
          <a:lstStyle/>
          <a:p>
            <a:pPr>
              <a:spcBef>
                <a:spcPts val="1400"/>
              </a:spcBef>
            </a:pPr>
            <a:r>
              <a:rPr lang="en-US" sz="1800" dirty="0">
                <a:latin typeface="Abadi" panose="020B0604020104020204" pitchFamily="34" charset="0"/>
              </a:rPr>
              <a:t>We observed that the dates of the first successful landing outcome on ground pad was 22</a:t>
            </a:r>
            <a:r>
              <a:rPr lang="en-US" sz="1800" baseline="30000" dirty="0">
                <a:latin typeface="Abadi" panose="020B0604020104020204" pitchFamily="34" charset="0"/>
              </a:rPr>
              <a:t>nd</a:t>
            </a:r>
            <a:r>
              <a:rPr lang="en-US" sz="1800" dirty="0">
                <a:latin typeface="Abadi" panose="020B0604020104020204" pitchFamily="34" charset="0"/>
              </a:rPr>
              <a:t> December 2015</a:t>
            </a:r>
          </a:p>
        </p:txBody>
      </p:sp>
      <p:grpSp>
        <p:nvGrpSpPr>
          <p:cNvPr id="13" name="Group 12">
            <a:extLst>
              <a:ext uri="{FF2B5EF4-FFF2-40B4-BE49-F238E27FC236}">
                <a16:creationId xmlns:a16="http://schemas.microsoft.com/office/drawing/2014/main" id="{828A5161-06F1-46CF-8AD7-844680A59E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601497"/>
            <a:ext cx="1014060" cy="2017580"/>
            <a:chOff x="0" y="4601497"/>
            <a:chExt cx="1014060" cy="2017580"/>
          </a:xfrm>
        </p:grpSpPr>
        <p:sp>
          <p:nvSpPr>
            <p:cNvPr id="14" name="Isosceles Triangle 1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6" name="Picture 5">
            <a:extLst>
              <a:ext uri="{FF2B5EF4-FFF2-40B4-BE49-F238E27FC236}">
                <a16:creationId xmlns:a16="http://schemas.microsoft.com/office/drawing/2014/main" id="{D5B751AB-189D-48E0-B627-B1B93BAF0FF7}"/>
              </a:ext>
            </a:extLst>
          </p:cNvPr>
          <p:cNvPicPr>
            <a:picLocks noChangeAspect="1"/>
          </p:cNvPicPr>
          <p:nvPr/>
        </p:nvPicPr>
        <p:blipFill>
          <a:blip r:embed="rId2"/>
          <a:stretch>
            <a:fillRect/>
          </a:stretch>
        </p:blipFill>
        <p:spPr>
          <a:xfrm>
            <a:off x="5295320" y="2716765"/>
            <a:ext cx="6253212" cy="2494323"/>
          </a:xfrm>
          <a:prstGeom prst="rect">
            <a:avLst/>
          </a:prstGeom>
        </p:spPr>
      </p:pic>
      <p:grpSp>
        <p:nvGrpSpPr>
          <p:cNvPr id="17" name="Group 16">
            <a:extLst>
              <a:ext uri="{FF2B5EF4-FFF2-40B4-BE49-F238E27FC236}">
                <a16:creationId xmlns:a16="http://schemas.microsoft.com/office/drawing/2014/main" id="{5995D10D-E9C9-47DB-AE7E-801FEF38F5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19290" y="1"/>
            <a:ext cx="972709" cy="1935307"/>
            <a:chOff x="10918968" y="713127"/>
            <a:chExt cx="1273032" cy="2532832"/>
          </a:xfrm>
        </p:grpSpPr>
        <p:sp>
          <p:nvSpPr>
            <p:cNvPr id="18" name="Rectangle 17">
              <a:extLst>
                <a:ext uri="{FF2B5EF4-FFF2-40B4-BE49-F238E27FC236}">
                  <a16:creationId xmlns:a16="http://schemas.microsoft.com/office/drawing/2014/main" id="{CC1A72C6-3DE4-4EC3-9AD5-9E0D40D8CE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Isosceles Triangle 18">
              <a:extLst>
                <a:ext uri="{FF2B5EF4-FFF2-40B4-BE49-F238E27FC236}">
                  <a16:creationId xmlns:a16="http://schemas.microsoft.com/office/drawing/2014/main" id="{0B0DA1F1-C391-4EDF-9FE0-23E86E1377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a:xfrm>
            <a:off x="8805333" y="6356350"/>
            <a:ext cx="2743200" cy="365125"/>
          </a:xfrm>
        </p:spPr>
        <p:txBody>
          <a:bodyPr vert="horz" lIns="91440" tIns="45720" rIns="91440" bIns="45720" rtlCol="0" anchor="ctr">
            <a:normAutofit/>
          </a:bodyPr>
          <a:lstStyle/>
          <a:p>
            <a:pPr>
              <a:spcAft>
                <a:spcPts val="600"/>
              </a:spcAft>
            </a:pPr>
            <a:fld id="{5075537C-CA84-1446-933C-8E9D027F9201}" type="slidenum">
              <a:rPr lang="en-US" sz="1200" smtClean="0">
                <a:solidFill>
                  <a:schemeClr val="tx1">
                    <a:tint val="75000"/>
                  </a:schemeClr>
                </a:solidFill>
                <a:latin typeface="+mn-lt"/>
              </a:rPr>
              <a:pPr>
                <a:spcAft>
                  <a:spcPts val="600"/>
                </a:spcAft>
              </a:pPr>
              <a:t>28</a:t>
            </a:fld>
            <a:endParaRPr lang="en-US" sz="1200">
              <a:solidFill>
                <a:schemeClr val="tx1">
                  <a:tint val="75000"/>
                </a:schemeClr>
              </a:solidFill>
              <a:latin typeface="+mn-lt"/>
            </a:endParaRPr>
          </a:p>
        </p:txBody>
      </p:sp>
    </p:spTree>
    <p:extLst>
      <p:ext uri="{BB962C8B-B14F-4D97-AF65-F5344CB8AC3E}">
        <p14:creationId xmlns:p14="http://schemas.microsoft.com/office/powerpoint/2010/main" val="14346799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5" name="Group 14">
            <a:extLst>
              <a:ext uri="{FF2B5EF4-FFF2-40B4-BE49-F238E27FC236}">
                <a16:creationId xmlns:a16="http://schemas.microsoft.com/office/drawing/2014/main" id="{287F69AB-2350-44E3-9076-00265B93F3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0" y="1"/>
            <a:ext cx="972709" cy="1935307"/>
            <a:chOff x="10918968" y="713127"/>
            <a:chExt cx="1273032" cy="2532832"/>
          </a:xfrm>
        </p:grpSpPr>
        <p:sp>
          <p:nvSpPr>
            <p:cNvPr id="16" name="Rectangle 15">
              <a:extLst>
                <a:ext uri="{FF2B5EF4-FFF2-40B4-BE49-F238E27FC236}">
                  <a16:creationId xmlns:a16="http://schemas.microsoft.com/office/drawing/2014/main" id="{D70652AA-1C81-481C-856B-9037143754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Isosceles Triangle 16">
              <a:extLst>
                <a:ext uri="{FF2B5EF4-FFF2-40B4-BE49-F238E27FC236}">
                  <a16:creationId xmlns:a16="http://schemas.microsoft.com/office/drawing/2014/main" id="{A2FF99B6-37BA-4650-B01D-799F02E31E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8" name="Title 1">
            <a:extLst>
              <a:ext uri="{FF2B5EF4-FFF2-40B4-BE49-F238E27FC236}">
                <a16:creationId xmlns:a16="http://schemas.microsoft.com/office/drawing/2014/main" id="{952C2E9C-C6BE-40BD-A406-CFB441363CBA}"/>
              </a:ext>
            </a:extLst>
          </p:cNvPr>
          <p:cNvSpPr txBox="1">
            <a:spLocks/>
          </p:cNvSpPr>
          <p:nvPr/>
        </p:nvSpPr>
        <p:spPr>
          <a:xfrm>
            <a:off x="643467" y="321734"/>
            <a:ext cx="10905066" cy="113573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pPr>
              <a:spcAft>
                <a:spcPts val="600"/>
              </a:spcAft>
            </a:pPr>
            <a:r>
              <a:rPr lang="en-US" sz="3600" kern="1200" dirty="0">
                <a:solidFill>
                  <a:srgbClr val="0B49CB"/>
                </a:solidFill>
                <a:latin typeface="Abadi" panose="020B0604020104020204" pitchFamily="34" charset="0"/>
                <a:ea typeface="+mj-ea"/>
                <a:cs typeface="+mj-cs"/>
              </a:rPr>
              <a:t>Successful Drone Ship Landing with Payload between 4000 and 6000</a:t>
            </a:r>
          </a:p>
        </p:txBody>
      </p:sp>
      <p:pic>
        <p:nvPicPr>
          <p:cNvPr id="3" name="Picture 2">
            <a:extLst>
              <a:ext uri="{FF2B5EF4-FFF2-40B4-BE49-F238E27FC236}">
                <a16:creationId xmlns:a16="http://schemas.microsoft.com/office/drawing/2014/main" id="{8BE87361-909F-45C4-896B-C2764CBD18B5}"/>
              </a:ext>
            </a:extLst>
          </p:cNvPr>
          <p:cNvPicPr>
            <a:picLocks noChangeAspect="1"/>
          </p:cNvPicPr>
          <p:nvPr/>
        </p:nvPicPr>
        <p:blipFill>
          <a:blip r:embed="rId2"/>
          <a:stretch>
            <a:fillRect/>
          </a:stretch>
        </p:blipFill>
        <p:spPr>
          <a:xfrm>
            <a:off x="643467" y="1782981"/>
            <a:ext cx="6253214" cy="4284116"/>
          </a:xfrm>
          <a:prstGeom prst="rect">
            <a:avLst/>
          </a:prstGeom>
        </p:spPr>
      </p:pic>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544052" y="1782981"/>
            <a:ext cx="4004479" cy="4393982"/>
          </a:xfrm>
          <a:prstGeom prst="rect">
            <a:avLst/>
          </a:prstGeom>
        </p:spPr>
        <p:txBody>
          <a:bodyPr vert="horz" lIns="91440" tIns="45720" rIns="91440" bIns="45720" rtlCol="0">
            <a:normAutofit/>
          </a:bodyPr>
          <a:lstStyle/>
          <a:p>
            <a:pPr>
              <a:spcBef>
                <a:spcPts val="1400"/>
              </a:spcBef>
            </a:pPr>
            <a:r>
              <a:rPr lang="en-US" sz="2000" dirty="0">
                <a:latin typeface="Abadi" panose="020B0604020104020204" pitchFamily="34" charset="0"/>
              </a:rPr>
              <a:t>We used the </a:t>
            </a:r>
            <a:r>
              <a:rPr lang="en-US" sz="2000" b="1" dirty="0">
                <a:latin typeface="Abadi" panose="020B0604020104020204" pitchFamily="34" charset="0"/>
              </a:rPr>
              <a:t>WHERE</a:t>
            </a:r>
            <a:r>
              <a:rPr lang="en-US" sz="2000" dirty="0">
                <a:latin typeface="Abadi" panose="020B0604020104020204" pitchFamily="34" charset="0"/>
              </a:rPr>
              <a:t> clause to filter for boosters which have successfully landed on drone ship and applied the </a:t>
            </a:r>
            <a:r>
              <a:rPr lang="en-US" sz="2000" b="1" dirty="0">
                <a:latin typeface="Abadi" panose="020B0604020104020204" pitchFamily="34" charset="0"/>
              </a:rPr>
              <a:t>AND</a:t>
            </a:r>
            <a:r>
              <a:rPr lang="en-US" sz="2000" dirty="0">
                <a:latin typeface="Abadi" panose="020B0604020104020204" pitchFamily="34" charset="0"/>
              </a:rPr>
              <a:t> condition to determine successful landing with payload mass greater than 4000 but less than 6000</a:t>
            </a:r>
          </a:p>
          <a:p>
            <a:pPr>
              <a:spcBef>
                <a:spcPts val="1400"/>
              </a:spcBef>
            </a:pPr>
            <a:endParaRPr lang="en-US" sz="2000" dirty="0"/>
          </a:p>
        </p:txBody>
      </p:sp>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a:xfrm>
            <a:off x="8805332" y="6356350"/>
            <a:ext cx="2743200" cy="365125"/>
          </a:xfrm>
        </p:spPr>
        <p:txBody>
          <a:bodyPr vert="horz" lIns="91440" tIns="45720" rIns="91440" bIns="45720" rtlCol="0" anchor="ctr">
            <a:normAutofit/>
          </a:bodyPr>
          <a:lstStyle/>
          <a:p>
            <a:pPr>
              <a:spcAft>
                <a:spcPts val="600"/>
              </a:spcAft>
            </a:pPr>
            <a:fld id="{5075537C-CA84-1446-933C-8E9D027F9201}" type="slidenum">
              <a:rPr lang="en-US" sz="1200" smtClean="0">
                <a:solidFill>
                  <a:schemeClr val="tx1">
                    <a:tint val="75000"/>
                  </a:schemeClr>
                </a:solidFill>
                <a:latin typeface="+mn-lt"/>
              </a:rPr>
              <a:pPr>
                <a:spcAft>
                  <a:spcPts val="600"/>
                </a:spcAft>
              </a:pPr>
              <a:t>29</a:t>
            </a:fld>
            <a:endParaRPr lang="en-US" sz="1200">
              <a:solidFill>
                <a:schemeClr val="tx1">
                  <a:tint val="75000"/>
                </a:schemeClr>
              </a:solidFill>
              <a:latin typeface="+mn-lt"/>
            </a:endParaRPr>
          </a:p>
        </p:txBody>
      </p:sp>
      <p:grpSp>
        <p:nvGrpSpPr>
          <p:cNvPr id="19" name="Group 18">
            <a:extLst>
              <a:ext uri="{FF2B5EF4-FFF2-40B4-BE49-F238E27FC236}">
                <a16:creationId xmlns:a16="http://schemas.microsoft.com/office/drawing/2014/main" id="{3EA7D759-6BEF-4CBD-A325-BCFA77832B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177940" y="4601497"/>
            <a:ext cx="1014060" cy="2017580"/>
            <a:chOff x="11177940" y="4601497"/>
            <a:chExt cx="1014060" cy="2017580"/>
          </a:xfrm>
        </p:grpSpPr>
        <p:sp>
          <p:nvSpPr>
            <p:cNvPr id="20" name="Isosceles Triangle 19">
              <a:extLst>
                <a:ext uri="{FF2B5EF4-FFF2-40B4-BE49-F238E27FC236}">
                  <a16:creationId xmlns:a16="http://schemas.microsoft.com/office/drawing/2014/main" id="{317405EC-53E3-473A-8B42-B9475D057B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1067618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C03F2370-11B5-4E16-8AE5-B4854408B4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27850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6393995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5" name="Group 14">
            <a:extLst>
              <a:ext uri="{FF2B5EF4-FFF2-40B4-BE49-F238E27FC236}">
                <a16:creationId xmlns:a16="http://schemas.microsoft.com/office/drawing/2014/main" id="{287F69AB-2350-44E3-9076-00265B93F3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0" y="1"/>
            <a:ext cx="972709" cy="1935307"/>
            <a:chOff x="10918968" y="713127"/>
            <a:chExt cx="1273032" cy="2532832"/>
          </a:xfrm>
        </p:grpSpPr>
        <p:sp>
          <p:nvSpPr>
            <p:cNvPr id="16" name="Rectangle 15">
              <a:extLst>
                <a:ext uri="{FF2B5EF4-FFF2-40B4-BE49-F238E27FC236}">
                  <a16:creationId xmlns:a16="http://schemas.microsoft.com/office/drawing/2014/main" id="{D70652AA-1C81-481C-856B-9037143754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Isosceles Triangle 16">
              <a:extLst>
                <a:ext uri="{FF2B5EF4-FFF2-40B4-BE49-F238E27FC236}">
                  <a16:creationId xmlns:a16="http://schemas.microsoft.com/office/drawing/2014/main" id="{A2FF99B6-37BA-4650-B01D-799F02E31E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8" name="Title 1">
            <a:extLst>
              <a:ext uri="{FF2B5EF4-FFF2-40B4-BE49-F238E27FC236}">
                <a16:creationId xmlns:a16="http://schemas.microsoft.com/office/drawing/2014/main" id="{952C2E9C-C6BE-40BD-A406-CFB441363CBA}"/>
              </a:ext>
            </a:extLst>
          </p:cNvPr>
          <p:cNvSpPr txBox="1">
            <a:spLocks/>
          </p:cNvSpPr>
          <p:nvPr/>
        </p:nvSpPr>
        <p:spPr>
          <a:xfrm>
            <a:off x="643467" y="321734"/>
            <a:ext cx="10905066" cy="113573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pPr>
              <a:spcAft>
                <a:spcPts val="600"/>
              </a:spcAft>
            </a:pPr>
            <a:r>
              <a:rPr lang="en-US" sz="3600" kern="1200" dirty="0">
                <a:solidFill>
                  <a:srgbClr val="0B49CB"/>
                </a:solidFill>
                <a:latin typeface="Abadi" panose="020B0604020104020204" pitchFamily="34" charset="0"/>
                <a:ea typeface="+mj-ea"/>
                <a:cs typeface="+mj-cs"/>
              </a:rPr>
              <a:t>Total Number of Successful and Failure Mission Outcomes</a:t>
            </a:r>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544052" y="1782981"/>
            <a:ext cx="4004479" cy="4393982"/>
          </a:xfrm>
          <a:prstGeom prst="rect">
            <a:avLst/>
          </a:prstGeom>
        </p:spPr>
        <p:txBody>
          <a:bodyPr vert="horz" lIns="91440" tIns="45720" rIns="91440" bIns="45720" rtlCol="0">
            <a:normAutofit/>
          </a:bodyPr>
          <a:lstStyle/>
          <a:p>
            <a:pPr>
              <a:spcBef>
                <a:spcPts val="1400"/>
              </a:spcBef>
            </a:pPr>
            <a:r>
              <a:rPr lang="en-US" sz="2000" dirty="0">
                <a:latin typeface="Abadi" panose="020B0604020104020204" pitchFamily="34" charset="0"/>
              </a:rPr>
              <a:t>We used wildcard like ‘%’ to filter for </a:t>
            </a:r>
            <a:r>
              <a:rPr lang="en-US" sz="2000" b="1" dirty="0">
                <a:latin typeface="Abadi" panose="020B0604020104020204" pitchFamily="34" charset="0"/>
              </a:rPr>
              <a:t>WHERE</a:t>
            </a:r>
            <a:r>
              <a:rPr lang="en-US" sz="2000" dirty="0">
                <a:latin typeface="Abadi" panose="020B0604020104020204" pitchFamily="34" charset="0"/>
              </a:rPr>
              <a:t> </a:t>
            </a:r>
            <a:r>
              <a:rPr lang="en-US" sz="2000" dirty="0" err="1">
                <a:latin typeface="Abadi" panose="020B0604020104020204" pitchFamily="34" charset="0"/>
              </a:rPr>
              <a:t>MissionOutcome</a:t>
            </a:r>
            <a:r>
              <a:rPr lang="en-US" sz="2000" dirty="0">
                <a:latin typeface="Abadi" panose="020B0604020104020204" pitchFamily="34" charset="0"/>
              </a:rPr>
              <a:t> was a success or a failure. </a:t>
            </a:r>
          </a:p>
          <a:p>
            <a:pPr>
              <a:spcBef>
                <a:spcPts val="1400"/>
              </a:spcBef>
            </a:pPr>
            <a:endParaRPr lang="en-US" sz="2000" dirty="0"/>
          </a:p>
        </p:txBody>
      </p:sp>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a:xfrm>
            <a:off x="8805332" y="6356350"/>
            <a:ext cx="2743200" cy="365125"/>
          </a:xfrm>
        </p:spPr>
        <p:txBody>
          <a:bodyPr vert="horz" lIns="91440" tIns="45720" rIns="91440" bIns="45720" rtlCol="0" anchor="ctr">
            <a:normAutofit/>
          </a:bodyPr>
          <a:lstStyle/>
          <a:p>
            <a:pPr>
              <a:spcAft>
                <a:spcPts val="600"/>
              </a:spcAft>
            </a:pPr>
            <a:fld id="{5075537C-CA84-1446-933C-8E9D027F9201}" type="slidenum">
              <a:rPr lang="en-US" sz="1200" smtClean="0">
                <a:solidFill>
                  <a:schemeClr val="tx1">
                    <a:tint val="75000"/>
                  </a:schemeClr>
                </a:solidFill>
                <a:latin typeface="+mn-lt"/>
              </a:rPr>
              <a:pPr>
                <a:spcAft>
                  <a:spcPts val="600"/>
                </a:spcAft>
              </a:pPr>
              <a:t>30</a:t>
            </a:fld>
            <a:endParaRPr lang="en-US" sz="1200">
              <a:solidFill>
                <a:schemeClr val="tx1">
                  <a:tint val="75000"/>
                </a:schemeClr>
              </a:solidFill>
              <a:latin typeface="+mn-lt"/>
            </a:endParaRPr>
          </a:p>
        </p:txBody>
      </p:sp>
      <p:grpSp>
        <p:nvGrpSpPr>
          <p:cNvPr id="19" name="Group 18">
            <a:extLst>
              <a:ext uri="{FF2B5EF4-FFF2-40B4-BE49-F238E27FC236}">
                <a16:creationId xmlns:a16="http://schemas.microsoft.com/office/drawing/2014/main" id="{3EA7D759-6BEF-4CBD-A325-BCFA77832B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177940" y="4601497"/>
            <a:ext cx="1014060" cy="2017580"/>
            <a:chOff x="11177940" y="4601497"/>
            <a:chExt cx="1014060" cy="2017580"/>
          </a:xfrm>
        </p:grpSpPr>
        <p:sp>
          <p:nvSpPr>
            <p:cNvPr id="20" name="Isosceles Triangle 19">
              <a:extLst>
                <a:ext uri="{FF2B5EF4-FFF2-40B4-BE49-F238E27FC236}">
                  <a16:creationId xmlns:a16="http://schemas.microsoft.com/office/drawing/2014/main" id="{317405EC-53E3-473A-8B42-B9475D057B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1067618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C03F2370-11B5-4E16-8AE5-B4854408B4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27850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 name="Picture 1">
            <a:extLst>
              <a:ext uri="{FF2B5EF4-FFF2-40B4-BE49-F238E27FC236}">
                <a16:creationId xmlns:a16="http://schemas.microsoft.com/office/drawing/2014/main" id="{53A167C0-0A91-4A58-8964-1B36C1D5295C}"/>
              </a:ext>
            </a:extLst>
          </p:cNvPr>
          <p:cNvPicPr>
            <a:picLocks noChangeAspect="1"/>
          </p:cNvPicPr>
          <p:nvPr/>
        </p:nvPicPr>
        <p:blipFill>
          <a:blip r:embed="rId2"/>
          <a:stretch>
            <a:fillRect/>
          </a:stretch>
        </p:blipFill>
        <p:spPr>
          <a:xfrm>
            <a:off x="643466" y="1457471"/>
            <a:ext cx="5108891" cy="4633362"/>
          </a:xfrm>
          <a:prstGeom prst="rect">
            <a:avLst/>
          </a:prstGeom>
        </p:spPr>
      </p:pic>
    </p:spTree>
    <p:extLst>
      <p:ext uri="{BB962C8B-B14F-4D97-AF65-F5344CB8AC3E}">
        <p14:creationId xmlns:p14="http://schemas.microsoft.com/office/powerpoint/2010/main" val="3898812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31BAD53-4E89-4F62-BBB7-26359763E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62756DA2-40EB-4C6F-B962-5822FFB54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343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itle 1">
            <a:extLst>
              <a:ext uri="{FF2B5EF4-FFF2-40B4-BE49-F238E27FC236}">
                <a16:creationId xmlns:a16="http://schemas.microsoft.com/office/drawing/2014/main" id="{2A7EB98F-A25F-4357-9775-478FC17F7F83}"/>
              </a:ext>
            </a:extLst>
          </p:cNvPr>
          <p:cNvSpPr txBox="1">
            <a:spLocks/>
          </p:cNvSpPr>
          <p:nvPr/>
        </p:nvSpPr>
        <p:spPr>
          <a:xfrm>
            <a:off x="838200" y="609600"/>
            <a:ext cx="4015855" cy="133083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pPr>
              <a:spcAft>
                <a:spcPts val="600"/>
              </a:spcAft>
            </a:pPr>
            <a:r>
              <a:rPr lang="en-US" sz="3700" kern="1200" dirty="0">
                <a:solidFill>
                  <a:srgbClr val="0B49CB"/>
                </a:solidFill>
                <a:latin typeface="Abadi" panose="020B0604020104020204" pitchFamily="34" charset="0"/>
                <a:ea typeface="+mj-ea"/>
                <a:cs typeface="+mj-cs"/>
              </a:rPr>
              <a:t>Boosters Carried Maximum Payload</a:t>
            </a:r>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862366" y="2194102"/>
            <a:ext cx="3427001" cy="3908586"/>
          </a:xfrm>
          <a:prstGeom prst="rect">
            <a:avLst/>
          </a:prstGeom>
        </p:spPr>
        <p:txBody>
          <a:bodyPr vert="horz" lIns="91440" tIns="45720" rIns="91440" bIns="45720" rtlCol="0">
            <a:normAutofit/>
          </a:bodyPr>
          <a:lstStyle/>
          <a:p>
            <a:pPr>
              <a:spcBef>
                <a:spcPts val="1400"/>
              </a:spcBef>
            </a:pPr>
            <a:r>
              <a:rPr lang="en-US" sz="1700" dirty="0">
                <a:latin typeface="Abadi" panose="020B0604020104020204" pitchFamily="34" charset="0"/>
              </a:rPr>
              <a:t>We determined the booster that have carried the maximum payload using a subquery in the </a:t>
            </a:r>
            <a:r>
              <a:rPr lang="en-US" sz="1700" b="1" dirty="0">
                <a:latin typeface="Abadi" panose="020B0604020104020204" pitchFamily="34" charset="0"/>
              </a:rPr>
              <a:t>WHERE</a:t>
            </a:r>
            <a:r>
              <a:rPr lang="en-US" sz="1700" dirty="0">
                <a:latin typeface="Abadi" panose="020B0604020104020204" pitchFamily="34" charset="0"/>
              </a:rPr>
              <a:t> clause and the </a:t>
            </a:r>
            <a:r>
              <a:rPr lang="en-US" sz="1700" b="1" dirty="0">
                <a:latin typeface="Abadi" panose="020B0604020104020204" pitchFamily="34" charset="0"/>
              </a:rPr>
              <a:t>MAX() </a:t>
            </a:r>
            <a:r>
              <a:rPr lang="en-US" sz="1700" dirty="0">
                <a:latin typeface="Abadi" panose="020B0604020104020204" pitchFamily="34" charset="0"/>
              </a:rPr>
              <a:t>function.</a:t>
            </a:r>
          </a:p>
        </p:txBody>
      </p:sp>
      <p:pic>
        <p:nvPicPr>
          <p:cNvPr id="6" name="Picture 5">
            <a:extLst>
              <a:ext uri="{FF2B5EF4-FFF2-40B4-BE49-F238E27FC236}">
                <a16:creationId xmlns:a16="http://schemas.microsoft.com/office/drawing/2014/main" id="{779D4455-44AD-4EE2-AA73-0C30FAE52EB3}"/>
              </a:ext>
            </a:extLst>
          </p:cNvPr>
          <p:cNvPicPr>
            <a:picLocks noChangeAspect="1"/>
          </p:cNvPicPr>
          <p:nvPr/>
        </p:nvPicPr>
        <p:blipFill>
          <a:blip r:embed="rId2"/>
          <a:stretch>
            <a:fillRect/>
          </a:stretch>
        </p:blipFill>
        <p:spPr>
          <a:xfrm>
            <a:off x="5445457" y="963426"/>
            <a:ext cx="6155141" cy="4954888"/>
          </a:xfrm>
          <a:prstGeom prst="rect">
            <a:avLst/>
          </a:prstGeom>
        </p:spPr>
      </p:pic>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5075537C-CA84-1446-933C-8E9D027F9201}" type="slidenum">
              <a:rPr lang="en-US" sz="1000">
                <a:solidFill>
                  <a:schemeClr val="tx1">
                    <a:lumMod val="50000"/>
                    <a:lumOff val="50000"/>
                  </a:schemeClr>
                </a:solidFill>
                <a:latin typeface="+mn-lt"/>
              </a:rPr>
              <a:pPr>
                <a:spcAft>
                  <a:spcPts val="600"/>
                </a:spcAft>
              </a:pPr>
              <a:t>31</a:t>
            </a:fld>
            <a:endParaRPr lang="en-US" sz="1000">
              <a:solidFill>
                <a:schemeClr val="tx1">
                  <a:lumMod val="50000"/>
                  <a:lumOff val="50000"/>
                </a:schemeClr>
              </a:solidFill>
              <a:latin typeface="+mn-lt"/>
            </a:endParaRPr>
          </a:p>
        </p:txBody>
      </p:sp>
    </p:spTree>
    <p:extLst>
      <p:ext uri="{BB962C8B-B14F-4D97-AF65-F5344CB8AC3E}">
        <p14:creationId xmlns:p14="http://schemas.microsoft.com/office/powerpoint/2010/main" val="35666463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32</a:t>
            </a:fld>
            <a:endParaRPr lang="en-US" dirty="0"/>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lIns="91440" tIns="45720" rIns="91440" bIns="45720" anchor="t">
            <a:normAutofit/>
          </a:bodyPr>
          <a:lstStyle/>
          <a:p>
            <a:pPr>
              <a:lnSpc>
                <a:spcPct val="100000"/>
              </a:lnSpc>
              <a:spcBef>
                <a:spcPts val="1400"/>
              </a:spcBef>
            </a:pPr>
            <a:r>
              <a:rPr lang="en-US" sz="2200" dirty="0">
                <a:solidFill>
                  <a:schemeClr val="accent3">
                    <a:lumMod val="25000"/>
                  </a:schemeClr>
                </a:solidFill>
                <a:latin typeface="Abadi"/>
              </a:rPr>
              <a:t>We used a combinations of the </a:t>
            </a:r>
            <a:r>
              <a:rPr lang="en-US" sz="2200" b="1" dirty="0">
                <a:solidFill>
                  <a:schemeClr val="accent3">
                    <a:lumMod val="25000"/>
                  </a:schemeClr>
                </a:solidFill>
                <a:latin typeface="Abadi"/>
              </a:rPr>
              <a:t>WHERE</a:t>
            </a:r>
            <a:r>
              <a:rPr lang="en-US" sz="2200" dirty="0">
                <a:solidFill>
                  <a:schemeClr val="accent3">
                    <a:lumMod val="25000"/>
                  </a:schemeClr>
                </a:solidFill>
                <a:latin typeface="Abadi"/>
              </a:rPr>
              <a:t> clause, </a:t>
            </a:r>
            <a:r>
              <a:rPr lang="en-US" sz="2200" b="1" dirty="0">
                <a:solidFill>
                  <a:schemeClr val="accent3">
                    <a:lumMod val="25000"/>
                  </a:schemeClr>
                </a:solidFill>
                <a:latin typeface="Abadi"/>
              </a:rPr>
              <a:t>LIKE</a:t>
            </a:r>
            <a:r>
              <a:rPr lang="en-US" sz="2200" dirty="0">
                <a:solidFill>
                  <a:schemeClr val="accent3">
                    <a:lumMod val="25000"/>
                  </a:schemeClr>
                </a:solidFill>
                <a:latin typeface="Abadi"/>
              </a:rPr>
              <a:t>, </a:t>
            </a:r>
            <a:r>
              <a:rPr lang="en-US" sz="2200" b="1" dirty="0">
                <a:solidFill>
                  <a:schemeClr val="accent3">
                    <a:lumMod val="25000"/>
                  </a:schemeClr>
                </a:solidFill>
                <a:latin typeface="Abadi"/>
              </a:rPr>
              <a:t>AND</a:t>
            </a:r>
            <a:r>
              <a:rPr lang="en-US" sz="2200" dirty="0">
                <a:solidFill>
                  <a:schemeClr val="accent3">
                    <a:lumMod val="25000"/>
                  </a:schemeClr>
                </a:solidFill>
                <a:latin typeface="Abadi"/>
              </a:rPr>
              <a:t>, and </a:t>
            </a:r>
            <a:r>
              <a:rPr lang="en-US" sz="2200" b="1" dirty="0">
                <a:solidFill>
                  <a:schemeClr val="accent3">
                    <a:lumMod val="25000"/>
                  </a:schemeClr>
                </a:solidFill>
                <a:latin typeface="Abadi"/>
              </a:rPr>
              <a:t>BETWEEN</a:t>
            </a:r>
            <a:r>
              <a:rPr lang="en-US" sz="2200" dirty="0">
                <a:solidFill>
                  <a:schemeClr val="accent3">
                    <a:lumMod val="25000"/>
                  </a:schemeClr>
                </a:solidFill>
                <a:latin typeface="Abadi"/>
              </a:rPr>
              <a:t> conditions to filter for failed landing outcomes in drone ship, their booster versions, and launch site names for year 2015</a:t>
            </a:r>
          </a:p>
          <a:p>
            <a:pPr>
              <a:lnSpc>
                <a:spcPct val="100000"/>
              </a:lnSpc>
              <a:spcBef>
                <a:spcPts val="1400"/>
              </a:spcBef>
            </a:pPr>
            <a:endParaRPr lang="en-US" sz="2200" dirty="0">
              <a:solidFill>
                <a:schemeClr val="accent3">
                  <a:lumMod val="25000"/>
                </a:schemeClr>
              </a:solidFill>
              <a:latin typeface="Abadi"/>
            </a:endParaRPr>
          </a:p>
        </p:txBody>
      </p:sp>
      <p:sp>
        <p:nvSpPr>
          <p:cNvPr id="3" name="Title 1">
            <a:extLst>
              <a:ext uri="{FF2B5EF4-FFF2-40B4-BE49-F238E27FC236}">
                <a16:creationId xmlns:a16="http://schemas.microsoft.com/office/drawing/2014/main" id="{964DA114-677C-40D8-8FFA-43531834CFBF}"/>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2015 Launch Records</a:t>
            </a:r>
          </a:p>
        </p:txBody>
      </p:sp>
      <p:pic>
        <p:nvPicPr>
          <p:cNvPr id="6" name="Picture 5">
            <a:extLst>
              <a:ext uri="{FF2B5EF4-FFF2-40B4-BE49-F238E27FC236}">
                <a16:creationId xmlns:a16="http://schemas.microsoft.com/office/drawing/2014/main" id="{50E3558E-0B94-4EC1-AA31-F47E92F36B61}"/>
              </a:ext>
            </a:extLst>
          </p:cNvPr>
          <p:cNvPicPr>
            <a:picLocks noChangeAspect="1"/>
          </p:cNvPicPr>
          <p:nvPr/>
        </p:nvPicPr>
        <p:blipFill>
          <a:blip r:embed="rId3"/>
          <a:stretch>
            <a:fillRect/>
          </a:stretch>
        </p:blipFill>
        <p:spPr>
          <a:xfrm>
            <a:off x="2023304" y="3075335"/>
            <a:ext cx="7239000" cy="2581275"/>
          </a:xfrm>
          <a:prstGeom prst="rect">
            <a:avLst/>
          </a:prstGeom>
        </p:spPr>
      </p:pic>
    </p:spTree>
    <p:extLst>
      <p:ext uri="{BB962C8B-B14F-4D97-AF65-F5344CB8AC3E}">
        <p14:creationId xmlns:p14="http://schemas.microsoft.com/office/powerpoint/2010/main" val="13984391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5" name="Group 14">
            <a:extLst>
              <a:ext uri="{FF2B5EF4-FFF2-40B4-BE49-F238E27FC236}">
                <a16:creationId xmlns:a16="http://schemas.microsoft.com/office/drawing/2014/main" id="{287F69AB-2350-44E3-9076-00265B93F3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0" y="1"/>
            <a:ext cx="972709" cy="1935307"/>
            <a:chOff x="10918968" y="713127"/>
            <a:chExt cx="1273032" cy="2532832"/>
          </a:xfrm>
        </p:grpSpPr>
        <p:sp>
          <p:nvSpPr>
            <p:cNvPr id="16" name="Rectangle 15">
              <a:extLst>
                <a:ext uri="{FF2B5EF4-FFF2-40B4-BE49-F238E27FC236}">
                  <a16:creationId xmlns:a16="http://schemas.microsoft.com/office/drawing/2014/main" id="{D70652AA-1C81-481C-856B-9037143754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Isosceles Triangle 16">
              <a:extLst>
                <a:ext uri="{FF2B5EF4-FFF2-40B4-BE49-F238E27FC236}">
                  <a16:creationId xmlns:a16="http://schemas.microsoft.com/office/drawing/2014/main" id="{A2FF99B6-37BA-4650-B01D-799F02E31E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8" name="Title 1">
            <a:extLst>
              <a:ext uri="{FF2B5EF4-FFF2-40B4-BE49-F238E27FC236}">
                <a16:creationId xmlns:a16="http://schemas.microsoft.com/office/drawing/2014/main" id="{952C2E9C-C6BE-40BD-A406-CFB441363CBA}"/>
              </a:ext>
            </a:extLst>
          </p:cNvPr>
          <p:cNvSpPr txBox="1">
            <a:spLocks/>
          </p:cNvSpPr>
          <p:nvPr/>
        </p:nvSpPr>
        <p:spPr>
          <a:xfrm>
            <a:off x="643467" y="321734"/>
            <a:ext cx="10905066" cy="113573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pPr>
              <a:spcAft>
                <a:spcPts val="600"/>
              </a:spcAft>
            </a:pPr>
            <a:r>
              <a:rPr lang="en-US" sz="3600" kern="1200" dirty="0">
                <a:solidFill>
                  <a:srgbClr val="0B49CB"/>
                </a:solidFill>
                <a:latin typeface="Abadi" panose="020B0604020104020204" pitchFamily="34" charset="0"/>
                <a:ea typeface="+mj-ea"/>
                <a:cs typeface="+mj-cs"/>
              </a:rPr>
              <a:t>Rank Landing Outcomes Between 2010-06-04 and 2017-03-20</a:t>
            </a:r>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544052" y="1782981"/>
            <a:ext cx="4004479" cy="4393982"/>
          </a:xfrm>
          <a:prstGeom prst="rect">
            <a:avLst/>
          </a:prstGeom>
        </p:spPr>
        <p:txBody>
          <a:bodyPr vert="horz" lIns="91440" tIns="45720" rIns="91440" bIns="45720" rtlCol="0">
            <a:normAutofit/>
          </a:bodyPr>
          <a:lstStyle/>
          <a:p>
            <a:pPr>
              <a:spcBef>
                <a:spcPts val="1400"/>
              </a:spcBef>
            </a:pPr>
            <a:r>
              <a:rPr lang="en-US" sz="2000" dirty="0">
                <a:latin typeface="Abadi" panose="020B0604020104020204" pitchFamily="34" charset="0"/>
              </a:rPr>
              <a:t>We selected Landing outcomes and the </a:t>
            </a:r>
            <a:r>
              <a:rPr lang="en-US" sz="2000" b="1" dirty="0">
                <a:latin typeface="Abadi" panose="020B0604020104020204" pitchFamily="34" charset="0"/>
              </a:rPr>
              <a:t>COUNT</a:t>
            </a:r>
            <a:r>
              <a:rPr lang="en-US" sz="2000" dirty="0">
                <a:latin typeface="Abadi" panose="020B0604020104020204" pitchFamily="34" charset="0"/>
              </a:rPr>
              <a:t> of landing outcomes from the data and used the </a:t>
            </a:r>
            <a:r>
              <a:rPr lang="en-US" sz="2000" b="1" dirty="0">
                <a:latin typeface="Abadi" panose="020B0604020104020204" pitchFamily="34" charset="0"/>
              </a:rPr>
              <a:t>WHERE</a:t>
            </a:r>
            <a:r>
              <a:rPr lang="en-US" sz="2000" dirty="0">
                <a:latin typeface="Abadi" panose="020B0604020104020204" pitchFamily="34" charset="0"/>
              </a:rPr>
              <a:t> clause to filter for landing outcomes </a:t>
            </a:r>
            <a:r>
              <a:rPr lang="en-US" sz="2000" b="1" dirty="0">
                <a:latin typeface="Abadi" panose="020B0604020104020204" pitchFamily="34" charset="0"/>
              </a:rPr>
              <a:t>BETWEEN</a:t>
            </a:r>
            <a:r>
              <a:rPr lang="en-US" sz="2000" dirty="0">
                <a:latin typeface="Abadi" panose="020B0604020104020204" pitchFamily="34" charset="0"/>
              </a:rPr>
              <a:t> 2010-06-04 to 2010-03-20.</a:t>
            </a:r>
          </a:p>
          <a:p>
            <a:pPr>
              <a:spcBef>
                <a:spcPts val="1400"/>
              </a:spcBef>
            </a:pPr>
            <a:r>
              <a:rPr lang="en-US" sz="2000" dirty="0">
                <a:latin typeface="Abadi" panose="020B0604020104020204" pitchFamily="34" charset="0"/>
              </a:rPr>
              <a:t>We applied the </a:t>
            </a:r>
            <a:r>
              <a:rPr lang="en-US" sz="2000" b="1" dirty="0">
                <a:latin typeface="Abadi" panose="020B0604020104020204" pitchFamily="34" charset="0"/>
              </a:rPr>
              <a:t>GROUP BY </a:t>
            </a:r>
            <a:r>
              <a:rPr lang="en-US" sz="2000" dirty="0">
                <a:latin typeface="Abadi" panose="020B0604020104020204" pitchFamily="34" charset="0"/>
              </a:rPr>
              <a:t>clause to group the landing outcomes and the </a:t>
            </a:r>
            <a:r>
              <a:rPr lang="en-US" sz="2000" b="1" dirty="0">
                <a:latin typeface="Abadi" panose="020B0604020104020204" pitchFamily="34" charset="0"/>
              </a:rPr>
              <a:t>ORDER BY </a:t>
            </a:r>
            <a:r>
              <a:rPr lang="en-US" sz="2000" dirty="0">
                <a:latin typeface="Abadi" panose="020B0604020104020204" pitchFamily="34" charset="0"/>
              </a:rPr>
              <a:t>clause to order the grouped landing outcome in descending order.</a:t>
            </a:r>
          </a:p>
          <a:p>
            <a:pPr>
              <a:spcBef>
                <a:spcPts val="1400"/>
              </a:spcBef>
            </a:pPr>
            <a:endParaRPr lang="en-US" sz="2000" dirty="0"/>
          </a:p>
        </p:txBody>
      </p:sp>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a:xfrm>
            <a:off x="8805332" y="6356350"/>
            <a:ext cx="2743200" cy="365125"/>
          </a:xfrm>
        </p:spPr>
        <p:txBody>
          <a:bodyPr vert="horz" lIns="91440" tIns="45720" rIns="91440" bIns="45720" rtlCol="0" anchor="ctr">
            <a:normAutofit/>
          </a:bodyPr>
          <a:lstStyle/>
          <a:p>
            <a:pPr>
              <a:spcAft>
                <a:spcPts val="600"/>
              </a:spcAft>
            </a:pPr>
            <a:fld id="{5075537C-CA84-1446-933C-8E9D027F9201}" type="slidenum">
              <a:rPr lang="en-US" sz="1200" smtClean="0">
                <a:solidFill>
                  <a:schemeClr val="tx1">
                    <a:tint val="75000"/>
                  </a:schemeClr>
                </a:solidFill>
                <a:latin typeface="+mn-lt"/>
              </a:rPr>
              <a:pPr>
                <a:spcAft>
                  <a:spcPts val="600"/>
                </a:spcAft>
              </a:pPr>
              <a:t>33</a:t>
            </a:fld>
            <a:endParaRPr lang="en-US" sz="1200">
              <a:solidFill>
                <a:schemeClr val="tx1">
                  <a:tint val="75000"/>
                </a:schemeClr>
              </a:solidFill>
              <a:latin typeface="+mn-lt"/>
            </a:endParaRPr>
          </a:p>
        </p:txBody>
      </p:sp>
      <p:grpSp>
        <p:nvGrpSpPr>
          <p:cNvPr id="19" name="Group 18">
            <a:extLst>
              <a:ext uri="{FF2B5EF4-FFF2-40B4-BE49-F238E27FC236}">
                <a16:creationId xmlns:a16="http://schemas.microsoft.com/office/drawing/2014/main" id="{3EA7D759-6BEF-4CBD-A325-BCFA77832B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177940" y="4601497"/>
            <a:ext cx="1014060" cy="2017580"/>
            <a:chOff x="11177940" y="4601497"/>
            <a:chExt cx="1014060" cy="2017580"/>
          </a:xfrm>
        </p:grpSpPr>
        <p:sp>
          <p:nvSpPr>
            <p:cNvPr id="20" name="Isosceles Triangle 19">
              <a:extLst>
                <a:ext uri="{FF2B5EF4-FFF2-40B4-BE49-F238E27FC236}">
                  <a16:creationId xmlns:a16="http://schemas.microsoft.com/office/drawing/2014/main" id="{317405EC-53E3-473A-8B42-B9475D057B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1067618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C03F2370-11B5-4E16-8AE5-B4854408B4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27850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6" name="Picture 5">
            <a:extLst>
              <a:ext uri="{FF2B5EF4-FFF2-40B4-BE49-F238E27FC236}">
                <a16:creationId xmlns:a16="http://schemas.microsoft.com/office/drawing/2014/main" id="{0AB630D8-82BB-40F8-A239-7FACF3C98F33}"/>
              </a:ext>
            </a:extLst>
          </p:cNvPr>
          <p:cNvPicPr>
            <a:picLocks noChangeAspect="1"/>
          </p:cNvPicPr>
          <p:nvPr/>
        </p:nvPicPr>
        <p:blipFill>
          <a:blip r:embed="rId2"/>
          <a:stretch>
            <a:fillRect/>
          </a:stretch>
        </p:blipFill>
        <p:spPr>
          <a:xfrm>
            <a:off x="776008" y="1589360"/>
            <a:ext cx="6124575" cy="4295775"/>
          </a:xfrm>
          <a:prstGeom prst="rect">
            <a:avLst/>
          </a:prstGeom>
        </p:spPr>
      </p:pic>
    </p:spTree>
    <p:extLst>
      <p:ext uri="{BB962C8B-B14F-4D97-AF65-F5344CB8AC3E}">
        <p14:creationId xmlns:p14="http://schemas.microsoft.com/office/powerpoint/2010/main" val="32362391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79B403-BC11-64FC-1272-A4C9B8254903}"/>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55980AC6-468D-092F-67F6-3DA8F86597F1}"/>
              </a:ext>
            </a:extLst>
          </p:cNvPr>
          <p:cNvPicPr>
            <a:picLocks noChangeAspect="1"/>
          </p:cNvPicPr>
          <p:nvPr/>
        </p:nvPicPr>
        <p:blipFill>
          <a:blip r:embed="rId2"/>
          <a:srcRect/>
          <a:stretch/>
        </p:blipFill>
        <p:spPr>
          <a:xfrm flipH="1">
            <a:off x="2905245" y="-96938"/>
            <a:ext cx="9402501" cy="7051876"/>
          </a:xfrm>
          <a:prstGeom prst="rect">
            <a:avLst/>
          </a:prstGeom>
        </p:spPr>
      </p:pic>
      <p:sp>
        <p:nvSpPr>
          <p:cNvPr id="5" name="Rectangle 4">
            <a:extLst>
              <a:ext uri="{FF2B5EF4-FFF2-40B4-BE49-F238E27FC236}">
                <a16:creationId xmlns:a16="http://schemas.microsoft.com/office/drawing/2014/main" id="{4453BBE2-1179-D927-DEEC-9723D3AA2143}"/>
              </a:ext>
            </a:extLst>
          </p:cNvPr>
          <p:cNvSpPr/>
          <p:nvPr/>
        </p:nvSpPr>
        <p:spPr>
          <a:xfrm>
            <a:off x="-254643" y="-96938"/>
            <a:ext cx="12315463" cy="7051876"/>
          </a:xfrm>
          <a:prstGeom prst="rect">
            <a:avLst/>
          </a:prstGeom>
          <a:gradFill flip="none" rotWithShape="1">
            <a:gsLst>
              <a:gs pos="76000">
                <a:srgbClr val="121619">
                  <a:alpha val="0"/>
                </a:srgbClr>
              </a:gs>
              <a:gs pos="100000">
                <a:srgbClr val="F2F4F8">
                  <a:alpha val="0"/>
                </a:srgbClr>
              </a:gs>
              <a:gs pos="100000">
                <a:schemeClr val="bg1">
                  <a:alpha val="0"/>
                </a:schemeClr>
              </a:gs>
              <a:gs pos="39000">
                <a:srgbClr val="121619"/>
              </a:gs>
              <a:gs pos="5000">
                <a:srgbClr val="121619"/>
              </a:gs>
              <a:gs pos="100000">
                <a:srgbClr val="121619">
                  <a:alpha val="0"/>
                </a:srgbClr>
              </a:gs>
              <a:gs pos="100000">
                <a:srgbClr val="F8F9FA">
                  <a:alpha val="0"/>
                </a:srgbClr>
              </a:gs>
            </a:gsLst>
            <a:lin ang="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8F9701FD-DE51-F158-9DBA-1E4945FCE308}"/>
              </a:ext>
            </a:extLst>
          </p:cNvPr>
          <p:cNvSpPr>
            <a:spLocks noGrp="1"/>
          </p:cNvSpPr>
          <p:nvPr>
            <p:ph type="ctrTitle"/>
          </p:nvPr>
        </p:nvSpPr>
        <p:spPr>
          <a:xfrm>
            <a:off x="889820" y="2717225"/>
            <a:ext cx="4804924" cy="1423549"/>
          </a:xfrm>
        </p:spPr>
        <p:txBody>
          <a:bodyPr>
            <a:normAutofit fontScale="90000"/>
          </a:bodyPr>
          <a:lstStyle/>
          <a:p>
            <a:pPr algn="l"/>
            <a:r>
              <a:rPr lang="en-IN" b="1" dirty="0">
                <a:solidFill>
                  <a:schemeClr val="bg1"/>
                </a:solidFill>
              </a:rPr>
              <a:t>Launch Sites</a:t>
            </a:r>
            <a:br>
              <a:rPr lang="en-IN" b="1" dirty="0">
                <a:solidFill>
                  <a:schemeClr val="bg1"/>
                </a:solidFill>
              </a:rPr>
            </a:br>
            <a:r>
              <a:rPr lang="en-IN" b="1" dirty="0">
                <a:solidFill>
                  <a:schemeClr val="bg1"/>
                </a:solidFill>
              </a:rPr>
              <a:t>Proximities Analysis </a:t>
            </a:r>
          </a:p>
        </p:txBody>
      </p:sp>
      <p:sp>
        <p:nvSpPr>
          <p:cNvPr id="12" name="TextBox 11">
            <a:extLst>
              <a:ext uri="{FF2B5EF4-FFF2-40B4-BE49-F238E27FC236}">
                <a16:creationId xmlns:a16="http://schemas.microsoft.com/office/drawing/2014/main" id="{7C28615B-7B2E-6A18-8C70-8D11F321165A}"/>
              </a:ext>
            </a:extLst>
          </p:cNvPr>
          <p:cNvSpPr txBox="1"/>
          <p:nvPr/>
        </p:nvSpPr>
        <p:spPr>
          <a:xfrm>
            <a:off x="889820" y="2348811"/>
            <a:ext cx="2514600" cy="369332"/>
          </a:xfrm>
          <a:prstGeom prst="rect">
            <a:avLst/>
          </a:prstGeom>
          <a:noFill/>
        </p:spPr>
        <p:txBody>
          <a:bodyPr wrap="square" lIns="91440" tIns="45720" rIns="91440" bIns="45720" rtlCol="0" anchor="t">
            <a:spAutoFit/>
          </a:bodyPr>
          <a:lstStyle/>
          <a:p>
            <a:r>
              <a:rPr lang="en-US" dirty="0">
                <a:solidFill>
                  <a:schemeClr val="bg2"/>
                </a:solidFill>
                <a:latin typeface="Abadi" panose="020B0604020104020204" pitchFamily="34" charset="0"/>
                <a:ea typeface="SF Pro" pitchFamily="2" charset="0"/>
                <a:cs typeface="SF Pro" pitchFamily="2" charset="0"/>
              </a:rPr>
              <a:t>Section 3</a:t>
            </a:r>
          </a:p>
        </p:txBody>
      </p:sp>
    </p:spTree>
    <p:extLst>
      <p:ext uri="{BB962C8B-B14F-4D97-AF65-F5344CB8AC3E}">
        <p14:creationId xmlns:p14="http://schemas.microsoft.com/office/powerpoint/2010/main" val="3274423431"/>
      </p:ext>
    </p:extLst>
  </p:cSld>
  <p:clrMapOvr>
    <a:masterClrMapping/>
  </p:clrMapOvr>
  <p:transition spd="slow">
    <p:push dir="u"/>
  </p:transition>
</p:sld>
</file>

<file path=ppt/slides/slide35.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p:txBody>
          <a:bodyPr/>
          <a:lstStyle/>
          <a:p>
            <a:fld id="{5075537C-CA84-1446-933C-8E9D027F9201}" type="slidenum">
              <a:rPr lang="en-US" smtClean="0"/>
              <a:t>35</a:t>
            </a:fld>
            <a:endParaRPr lang="en-US"/>
          </a:p>
        </p:txBody>
      </p:sp>
      <p:pic>
        <p:nvPicPr>
          <p:cNvPr id="6" name="Content Placeholder 5">
            <a:extLst>
              <a:ext uri="{FF2B5EF4-FFF2-40B4-BE49-F238E27FC236}">
                <a16:creationId xmlns:a16="http://schemas.microsoft.com/office/drawing/2014/main" id="{470AB9A3-B553-4971-BB03-177421E4971B}"/>
              </a:ext>
            </a:extLst>
          </p:cNvPr>
          <p:cNvPicPr>
            <a:picLocks noGrp="1" noChangeAspect="1"/>
          </p:cNvPicPr>
          <p:nvPr>
            <p:ph idx="4294967295"/>
          </p:nvPr>
        </p:nvPicPr>
        <p:blipFill>
          <a:blip r:embed="rId3"/>
          <a:stretch>
            <a:fillRect/>
          </a:stretch>
        </p:blipFill>
        <p:spPr>
          <a:xfrm>
            <a:off x="770011" y="1308538"/>
            <a:ext cx="10515600" cy="4717035"/>
          </a:xfrm>
          <a:prstGeom prst="rect">
            <a:avLst/>
          </a:prstGeom>
        </p:spPr>
      </p:pic>
      <p:sp>
        <p:nvSpPr>
          <p:cNvPr id="2" name="Title 1">
            <a:extLst>
              <a:ext uri="{FF2B5EF4-FFF2-40B4-BE49-F238E27FC236}">
                <a16:creationId xmlns:a16="http://schemas.microsoft.com/office/drawing/2014/main" id="{54176327-8CC4-4356-8BBB-DC4965CE9857}"/>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All launch sites global map markers</a:t>
            </a:r>
          </a:p>
        </p:txBody>
      </p:sp>
    </p:spTree>
    <p:extLst>
      <p:ext uri="{BB962C8B-B14F-4D97-AF65-F5344CB8AC3E}">
        <p14:creationId xmlns:p14="http://schemas.microsoft.com/office/powerpoint/2010/main" val="9816717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p:txBody>
          <a:bodyPr/>
          <a:lstStyle/>
          <a:p>
            <a:fld id="{5075537C-CA84-1446-933C-8E9D027F9201}" type="slidenum">
              <a:rPr lang="en-US" smtClean="0"/>
              <a:t>36</a:t>
            </a:fld>
            <a:endParaRPr lang="en-US"/>
          </a:p>
        </p:txBody>
      </p:sp>
      <p:pic>
        <p:nvPicPr>
          <p:cNvPr id="4" name="Content Placeholder 3">
            <a:extLst>
              <a:ext uri="{FF2B5EF4-FFF2-40B4-BE49-F238E27FC236}">
                <a16:creationId xmlns:a16="http://schemas.microsoft.com/office/drawing/2014/main" id="{545859BE-C488-4415-B455-A8E223C13405}"/>
              </a:ext>
            </a:extLst>
          </p:cNvPr>
          <p:cNvPicPr>
            <a:picLocks noGrp="1" noChangeAspect="1"/>
          </p:cNvPicPr>
          <p:nvPr>
            <p:ph idx="4294967295"/>
          </p:nvPr>
        </p:nvPicPr>
        <p:blipFill>
          <a:blip r:embed="rId3"/>
          <a:stretch>
            <a:fillRect/>
          </a:stretch>
        </p:blipFill>
        <p:spPr>
          <a:xfrm>
            <a:off x="770011" y="1253472"/>
            <a:ext cx="10687962" cy="4772101"/>
          </a:xfrm>
          <a:prstGeom prst="rect">
            <a:avLst/>
          </a:prstGeom>
        </p:spPr>
      </p:pic>
      <p:sp>
        <p:nvSpPr>
          <p:cNvPr id="8" name="Title 1">
            <a:extLst>
              <a:ext uri="{FF2B5EF4-FFF2-40B4-BE49-F238E27FC236}">
                <a16:creationId xmlns:a16="http://schemas.microsoft.com/office/drawing/2014/main" id="{2E0ECA32-E146-40DA-85CD-9677244BC3EC}"/>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Markers showing launch sites with color labels</a:t>
            </a:r>
          </a:p>
        </p:txBody>
      </p:sp>
    </p:spTree>
    <p:extLst>
      <p:ext uri="{BB962C8B-B14F-4D97-AF65-F5344CB8AC3E}">
        <p14:creationId xmlns:p14="http://schemas.microsoft.com/office/powerpoint/2010/main" val="2395978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p:txBody>
          <a:bodyPr/>
          <a:lstStyle/>
          <a:p>
            <a:fld id="{5075537C-CA84-1446-933C-8E9D027F9201}" type="slidenum">
              <a:rPr lang="en-US" smtClean="0"/>
              <a:t>37</a:t>
            </a:fld>
            <a:endParaRPr lang="en-US"/>
          </a:p>
        </p:txBody>
      </p:sp>
      <p:pic>
        <p:nvPicPr>
          <p:cNvPr id="4" name="Content Placeholder 3">
            <a:extLst>
              <a:ext uri="{FF2B5EF4-FFF2-40B4-BE49-F238E27FC236}">
                <a16:creationId xmlns:a16="http://schemas.microsoft.com/office/drawing/2014/main" id="{6E1784D2-4EB3-4F23-A05A-978BAA2AC218}"/>
              </a:ext>
            </a:extLst>
          </p:cNvPr>
          <p:cNvPicPr>
            <a:picLocks noGrp="1" noChangeAspect="1"/>
          </p:cNvPicPr>
          <p:nvPr>
            <p:ph idx="4294967295"/>
          </p:nvPr>
        </p:nvPicPr>
        <p:blipFill>
          <a:blip r:embed="rId2"/>
          <a:stretch>
            <a:fillRect/>
          </a:stretch>
        </p:blipFill>
        <p:spPr>
          <a:xfrm>
            <a:off x="770010" y="1362318"/>
            <a:ext cx="10092431" cy="5064893"/>
          </a:xfrm>
          <a:prstGeom prst="rect">
            <a:avLst/>
          </a:prstGeom>
        </p:spPr>
      </p:pic>
      <p:sp>
        <p:nvSpPr>
          <p:cNvPr id="8" name="Title 1">
            <a:extLst>
              <a:ext uri="{FF2B5EF4-FFF2-40B4-BE49-F238E27FC236}">
                <a16:creationId xmlns:a16="http://schemas.microsoft.com/office/drawing/2014/main" id="{34C97452-C78A-4701-B8AB-ABFE63D5BEDE}"/>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Launch Site distance to landmarks</a:t>
            </a:r>
          </a:p>
        </p:txBody>
      </p:sp>
    </p:spTree>
    <p:extLst>
      <p:ext uri="{BB962C8B-B14F-4D97-AF65-F5344CB8AC3E}">
        <p14:creationId xmlns:p14="http://schemas.microsoft.com/office/powerpoint/2010/main" val="2324990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4852E-9866-17A0-5F1E-43FEF1FB9E89}"/>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C6760B5E-0EF3-D0C9-CC83-474FA2102F3D}"/>
              </a:ext>
            </a:extLst>
          </p:cNvPr>
          <p:cNvPicPr>
            <a:picLocks noChangeAspect="1"/>
          </p:cNvPicPr>
          <p:nvPr/>
        </p:nvPicPr>
        <p:blipFill>
          <a:blip r:embed="rId2"/>
          <a:srcRect/>
          <a:stretch/>
        </p:blipFill>
        <p:spPr>
          <a:xfrm flipH="1">
            <a:off x="-165296" y="-165139"/>
            <a:ext cx="12727686" cy="7133098"/>
          </a:xfrm>
          <a:prstGeom prst="rect">
            <a:avLst/>
          </a:prstGeom>
        </p:spPr>
      </p:pic>
      <p:sp>
        <p:nvSpPr>
          <p:cNvPr id="5" name="Rectangle 4">
            <a:extLst>
              <a:ext uri="{FF2B5EF4-FFF2-40B4-BE49-F238E27FC236}">
                <a16:creationId xmlns:a16="http://schemas.microsoft.com/office/drawing/2014/main" id="{2BDF300C-C356-E8CC-ACBE-0BD75C7A35A0}"/>
              </a:ext>
            </a:extLst>
          </p:cNvPr>
          <p:cNvSpPr/>
          <p:nvPr/>
        </p:nvSpPr>
        <p:spPr>
          <a:xfrm>
            <a:off x="-165296" y="-165140"/>
            <a:ext cx="12060820" cy="7206020"/>
          </a:xfrm>
          <a:prstGeom prst="rect">
            <a:avLst/>
          </a:prstGeom>
          <a:gradFill flip="none" rotWithShape="1">
            <a:gsLst>
              <a:gs pos="82000">
                <a:srgbClr val="121619">
                  <a:alpha val="0"/>
                </a:srgbClr>
              </a:gs>
              <a:gs pos="87000">
                <a:srgbClr val="F2F4F8">
                  <a:alpha val="0"/>
                </a:srgbClr>
              </a:gs>
              <a:gs pos="100000">
                <a:schemeClr val="bg1">
                  <a:alpha val="0"/>
                </a:schemeClr>
              </a:gs>
              <a:gs pos="21000">
                <a:srgbClr val="121619"/>
              </a:gs>
              <a:gs pos="5000">
                <a:srgbClr val="121619"/>
              </a:gs>
              <a:gs pos="100000">
                <a:srgbClr val="121619">
                  <a:alpha val="0"/>
                </a:srgbClr>
              </a:gs>
              <a:gs pos="100000">
                <a:srgbClr val="F8F9FA">
                  <a:alpha val="0"/>
                </a:srgbClr>
              </a:gs>
            </a:gsLst>
            <a:lin ang="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211E774A-412E-3E37-6A77-F20E73F0D268}"/>
              </a:ext>
            </a:extLst>
          </p:cNvPr>
          <p:cNvSpPr>
            <a:spLocks noGrp="1"/>
          </p:cNvSpPr>
          <p:nvPr>
            <p:ph type="ctrTitle"/>
          </p:nvPr>
        </p:nvSpPr>
        <p:spPr>
          <a:xfrm>
            <a:off x="889820" y="2717225"/>
            <a:ext cx="4538707" cy="1423549"/>
          </a:xfrm>
        </p:spPr>
        <p:txBody>
          <a:bodyPr>
            <a:normAutofit fontScale="90000"/>
          </a:bodyPr>
          <a:lstStyle/>
          <a:p>
            <a:pPr algn="l"/>
            <a:r>
              <a:rPr lang="en-IN" b="1" dirty="0">
                <a:solidFill>
                  <a:schemeClr val="bg1"/>
                </a:solidFill>
              </a:rPr>
              <a:t>Build a Dashboard </a:t>
            </a:r>
            <a:br>
              <a:rPr lang="en-IN" b="1" dirty="0">
                <a:solidFill>
                  <a:schemeClr val="bg1"/>
                </a:solidFill>
              </a:rPr>
            </a:br>
            <a:r>
              <a:rPr lang="en-IN" b="1" dirty="0">
                <a:solidFill>
                  <a:schemeClr val="bg1"/>
                </a:solidFill>
              </a:rPr>
              <a:t>with </a:t>
            </a:r>
            <a:r>
              <a:rPr lang="en-IN" b="1" dirty="0" err="1">
                <a:solidFill>
                  <a:schemeClr val="bg1"/>
                </a:solidFill>
              </a:rPr>
              <a:t>Plotly</a:t>
            </a:r>
            <a:r>
              <a:rPr lang="en-IN" b="1" dirty="0">
                <a:solidFill>
                  <a:schemeClr val="bg1"/>
                </a:solidFill>
              </a:rPr>
              <a:t> Dash</a:t>
            </a:r>
          </a:p>
        </p:txBody>
      </p:sp>
      <p:sp>
        <p:nvSpPr>
          <p:cNvPr id="12" name="TextBox 11">
            <a:extLst>
              <a:ext uri="{FF2B5EF4-FFF2-40B4-BE49-F238E27FC236}">
                <a16:creationId xmlns:a16="http://schemas.microsoft.com/office/drawing/2014/main" id="{BBD5D491-7469-7B10-E2E4-87B5EBDC7C69}"/>
              </a:ext>
            </a:extLst>
          </p:cNvPr>
          <p:cNvSpPr txBox="1"/>
          <p:nvPr/>
        </p:nvSpPr>
        <p:spPr>
          <a:xfrm>
            <a:off x="889820" y="2348811"/>
            <a:ext cx="2514600" cy="369332"/>
          </a:xfrm>
          <a:prstGeom prst="rect">
            <a:avLst/>
          </a:prstGeom>
          <a:noFill/>
        </p:spPr>
        <p:txBody>
          <a:bodyPr wrap="square" lIns="91440" tIns="45720" rIns="91440" bIns="45720" rtlCol="0" anchor="t">
            <a:spAutoFit/>
          </a:bodyPr>
          <a:lstStyle/>
          <a:p>
            <a:r>
              <a:rPr lang="en-US" dirty="0">
                <a:solidFill>
                  <a:schemeClr val="bg2"/>
                </a:solidFill>
                <a:latin typeface="Abadi" panose="020B0604020104020204" pitchFamily="34" charset="0"/>
                <a:ea typeface="SF Pro" pitchFamily="2" charset="0"/>
                <a:cs typeface="SF Pro" pitchFamily="2" charset="0"/>
              </a:rPr>
              <a:t>Section 4</a:t>
            </a:r>
          </a:p>
        </p:txBody>
      </p:sp>
    </p:spTree>
    <p:extLst>
      <p:ext uri="{BB962C8B-B14F-4D97-AF65-F5344CB8AC3E}">
        <p14:creationId xmlns:p14="http://schemas.microsoft.com/office/powerpoint/2010/main" val="1015038007"/>
      </p:ext>
    </p:extLst>
  </p:cSld>
  <p:clrMapOvr>
    <a:masterClrMapping/>
  </p:clrMapOvr>
  <p:transition spd="slow">
    <p:push dir="u"/>
  </p:transition>
</p:sld>
</file>

<file path=ppt/slides/slide39.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073DE17-0FF5-4595-A4F2-B52421CEC018}"/>
              </a:ext>
            </a:extLst>
          </p:cNvPr>
          <p:cNvPicPr>
            <a:picLocks noGrp="1" noChangeAspect="1"/>
          </p:cNvPicPr>
          <p:nvPr>
            <p:ph idx="4294967295"/>
          </p:nvPr>
        </p:nvPicPr>
        <p:blipFill>
          <a:blip r:embed="rId3"/>
          <a:stretch>
            <a:fillRect/>
          </a:stretch>
        </p:blipFill>
        <p:spPr>
          <a:xfrm>
            <a:off x="752019" y="1454291"/>
            <a:ext cx="10687962" cy="4772101"/>
          </a:xfrm>
          <a:prstGeom prst="rect">
            <a:avLst/>
          </a:prstGeom>
        </p:spPr>
      </p:pic>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a:xfrm>
            <a:off x="8714772" y="6226392"/>
            <a:ext cx="2743200" cy="401638"/>
          </a:xfrm>
        </p:spPr>
        <p:txBody>
          <a:bodyPr/>
          <a:lstStyle/>
          <a:p>
            <a:fld id="{5075537C-CA84-1446-933C-8E9D027F9201}" type="slidenum">
              <a:rPr lang="en-US" smtClean="0"/>
              <a:t>39</a:t>
            </a:fld>
            <a:endParaRPr lang="en-US"/>
          </a:p>
        </p:txBody>
      </p:sp>
      <p:sp>
        <p:nvSpPr>
          <p:cNvPr id="8" name="Title 1">
            <a:extLst>
              <a:ext uri="{FF2B5EF4-FFF2-40B4-BE49-F238E27FC236}">
                <a16:creationId xmlns:a16="http://schemas.microsoft.com/office/drawing/2014/main" id="{9456A072-47A6-4424-9ABE-F398119040DD}"/>
              </a:ext>
            </a:extLst>
          </p:cNvPr>
          <p:cNvSpPr txBox="1">
            <a:spLocks/>
          </p:cNvSpPr>
          <p:nvPr/>
        </p:nvSpPr>
        <p:spPr>
          <a:xfrm>
            <a:off x="770011" y="459822"/>
            <a:ext cx="10515600" cy="549049"/>
          </a:xfrm>
          <a:prstGeom prst="rect">
            <a:avLst/>
          </a:prstGeom>
        </p:spPr>
        <p:txBody>
          <a:bodyPr vert="horz" lIns="91440" tIns="45720" rIns="91440" bIns="45720" rtlCol="0" anchor="ctr">
            <a:normAutofit fontScale="700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Pie chart showing the success percentage achieved by each launch site</a:t>
            </a:r>
          </a:p>
        </p:txBody>
      </p:sp>
    </p:spTree>
    <p:extLst>
      <p:ext uri="{BB962C8B-B14F-4D97-AF65-F5344CB8AC3E}">
        <p14:creationId xmlns:p14="http://schemas.microsoft.com/office/powerpoint/2010/main" val="70013293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C2AB105-08B3-4384-941B-B102B9F85DF4}"/>
              </a:ext>
            </a:extLst>
          </p:cNvPr>
          <p:cNvPicPr>
            <a:picLocks noGrp="1" noChangeAspect="1"/>
          </p:cNvPicPr>
          <p:nvPr>
            <p:ph idx="4294967295"/>
          </p:nvPr>
        </p:nvPicPr>
        <p:blipFill>
          <a:blip r:embed="rId2"/>
          <a:stretch>
            <a:fillRect/>
          </a:stretch>
        </p:blipFill>
        <p:spPr>
          <a:xfrm>
            <a:off x="2123100" y="1242623"/>
            <a:ext cx="7790783" cy="4440746"/>
          </a:xfrm>
          <a:prstGeom prst="rect">
            <a:avLst/>
          </a:prstGeom>
        </p:spPr>
      </p:pic>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5075537C-CA84-1446-933C-8E9D027F9201}" type="slidenum">
              <a:rPr lang="en-US" sz="1200" smtClean="0">
                <a:solidFill>
                  <a:schemeClr val="tx1">
                    <a:tint val="75000"/>
                  </a:schemeClr>
                </a:solidFill>
                <a:latin typeface="+mn-lt"/>
              </a:rPr>
              <a:pPr>
                <a:spcAft>
                  <a:spcPts val="600"/>
                </a:spcAft>
              </a:pPr>
              <a:t>40</a:t>
            </a:fld>
            <a:endParaRPr lang="en-US" sz="1200">
              <a:solidFill>
                <a:schemeClr val="tx1">
                  <a:tint val="75000"/>
                </a:schemeClr>
              </a:solidFill>
              <a:latin typeface="+mn-lt"/>
            </a:endParaRPr>
          </a:p>
        </p:txBody>
      </p:sp>
      <p:sp>
        <p:nvSpPr>
          <p:cNvPr id="26" name="Title 1">
            <a:extLst>
              <a:ext uri="{FF2B5EF4-FFF2-40B4-BE49-F238E27FC236}">
                <a16:creationId xmlns:a16="http://schemas.microsoft.com/office/drawing/2014/main" id="{B13EB6D9-4C4B-45DF-8FAE-DB400E38C812}"/>
              </a:ext>
            </a:extLst>
          </p:cNvPr>
          <p:cNvSpPr txBox="1">
            <a:spLocks/>
          </p:cNvSpPr>
          <p:nvPr/>
        </p:nvSpPr>
        <p:spPr>
          <a:xfrm>
            <a:off x="1103586" y="727738"/>
            <a:ext cx="10476314" cy="514885"/>
          </a:xfrm>
          <a:prstGeom prst="rect">
            <a:avLst/>
          </a:prstGeom>
        </p:spPr>
        <p:txBody>
          <a:bodyPr vert="horz" lIns="91440" tIns="45720" rIns="91440" bIns="45720" rtlCol="0" anchor="ctr">
            <a:normAutofit fontScale="700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Pie chart showing the Launch site with the highest launch success ratio</a:t>
            </a:r>
          </a:p>
          <a:p>
            <a:endParaRPr lang="en-US" dirty="0">
              <a:solidFill>
                <a:srgbClr val="0B49CB"/>
              </a:solidFill>
              <a:latin typeface="Abadi"/>
            </a:endParaRPr>
          </a:p>
        </p:txBody>
      </p:sp>
    </p:spTree>
    <p:extLst>
      <p:ext uri="{BB962C8B-B14F-4D97-AF65-F5344CB8AC3E}">
        <p14:creationId xmlns:p14="http://schemas.microsoft.com/office/powerpoint/2010/main" val="186616070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4D271BF5-BAA1-4CEB-A575-76A097FABBBA}"/>
              </a:ext>
            </a:extLst>
          </p:cNvPr>
          <p:cNvSpPr txBox="1">
            <a:spLocks/>
          </p:cNvSpPr>
          <p:nvPr/>
        </p:nvSpPr>
        <p:spPr>
          <a:xfrm>
            <a:off x="838199" y="291090"/>
            <a:ext cx="10515599" cy="93268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pPr>
              <a:spcAft>
                <a:spcPts val="600"/>
              </a:spcAft>
            </a:pPr>
            <a:r>
              <a:rPr lang="en-US" sz="2500" kern="1200" dirty="0">
                <a:solidFill>
                  <a:srgbClr val="0B49CB"/>
                </a:solidFill>
                <a:latin typeface="Abadi" panose="020B0604020104020204" pitchFamily="34" charset="0"/>
                <a:ea typeface="+mj-ea"/>
                <a:cs typeface="+mj-cs"/>
              </a:rPr>
              <a:t>Scatter plot of Payload vs Launch Outcome for all sites, with different payload selected in the range slider</a:t>
            </a:r>
          </a:p>
        </p:txBody>
      </p:sp>
      <p:sp>
        <p:nvSpPr>
          <p:cNvPr id="17" name="Rectangle 16">
            <a:extLst>
              <a:ext uri="{FF2B5EF4-FFF2-40B4-BE49-F238E27FC236}">
                <a16:creationId xmlns:a16="http://schemas.microsoft.com/office/drawing/2014/main" id="{F170E346-B98B-43A6-A4DA-D36FF63284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032938" y="-6032938"/>
            <a:ext cx="126124" cy="12192000"/>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pic>
        <p:nvPicPr>
          <p:cNvPr id="4" name="Content Placeholder 3" descr="Graphical user interface, application&#10;&#10;Description automatically generated">
            <a:extLst>
              <a:ext uri="{FF2B5EF4-FFF2-40B4-BE49-F238E27FC236}">
                <a16:creationId xmlns:a16="http://schemas.microsoft.com/office/drawing/2014/main" id="{E7D9358F-78D4-4E85-84A7-02D5123A0571}"/>
              </a:ext>
            </a:extLst>
          </p:cNvPr>
          <p:cNvPicPr>
            <a:picLocks noGrp="1" noChangeAspect="1"/>
          </p:cNvPicPr>
          <p:nvPr>
            <p:ph idx="4294967295"/>
          </p:nvPr>
        </p:nvPicPr>
        <p:blipFill>
          <a:blip r:embed="rId2"/>
          <a:stretch>
            <a:fillRect/>
          </a:stretch>
        </p:blipFill>
        <p:spPr>
          <a:xfrm>
            <a:off x="838200" y="2191367"/>
            <a:ext cx="10515599" cy="3785614"/>
          </a:xfrm>
          <a:prstGeom prst="rect">
            <a:avLst/>
          </a:prstGeom>
        </p:spPr>
      </p:pic>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5075537C-CA84-1446-933C-8E9D027F9201}" type="slidenum">
              <a:rPr lang="en-US" sz="1200" smtClean="0">
                <a:solidFill>
                  <a:schemeClr val="tx1">
                    <a:tint val="75000"/>
                  </a:schemeClr>
                </a:solidFill>
                <a:latin typeface="+mn-lt"/>
              </a:rPr>
              <a:pPr>
                <a:spcAft>
                  <a:spcPts val="600"/>
                </a:spcAft>
              </a:pPr>
              <a:t>41</a:t>
            </a:fld>
            <a:endParaRPr lang="en-US" sz="1200">
              <a:solidFill>
                <a:schemeClr val="tx1">
                  <a:tint val="75000"/>
                </a:schemeClr>
              </a:solidFill>
              <a:latin typeface="+mn-lt"/>
            </a:endParaRPr>
          </a:p>
        </p:txBody>
      </p:sp>
    </p:spTree>
    <p:extLst>
      <p:ext uri="{BB962C8B-B14F-4D97-AF65-F5344CB8AC3E}">
        <p14:creationId xmlns:p14="http://schemas.microsoft.com/office/powerpoint/2010/main" val="2523596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C0A391-3DDD-5567-8ADE-6E4D47B79595}"/>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D3AD5CA0-AE9E-C9A6-EB3A-01757F7A0AED}"/>
              </a:ext>
            </a:extLst>
          </p:cNvPr>
          <p:cNvPicPr>
            <a:picLocks noChangeAspect="1"/>
          </p:cNvPicPr>
          <p:nvPr/>
        </p:nvPicPr>
        <p:blipFill>
          <a:blip r:embed="rId2"/>
          <a:srcRect/>
          <a:stretch/>
        </p:blipFill>
        <p:spPr>
          <a:xfrm>
            <a:off x="-378461" y="-325120"/>
            <a:ext cx="12570462" cy="7183120"/>
          </a:xfrm>
          <a:prstGeom prst="rect">
            <a:avLst/>
          </a:prstGeom>
        </p:spPr>
      </p:pic>
      <p:sp>
        <p:nvSpPr>
          <p:cNvPr id="5" name="Rectangle 4">
            <a:extLst>
              <a:ext uri="{FF2B5EF4-FFF2-40B4-BE49-F238E27FC236}">
                <a16:creationId xmlns:a16="http://schemas.microsoft.com/office/drawing/2014/main" id="{0FC89D1C-AE41-6166-EA69-FC7041D0B28F}"/>
              </a:ext>
            </a:extLst>
          </p:cNvPr>
          <p:cNvSpPr/>
          <p:nvPr/>
        </p:nvSpPr>
        <p:spPr>
          <a:xfrm>
            <a:off x="0" y="0"/>
            <a:ext cx="12060820" cy="6858000"/>
          </a:xfrm>
          <a:prstGeom prst="rect">
            <a:avLst/>
          </a:prstGeom>
          <a:gradFill flip="none" rotWithShape="1">
            <a:gsLst>
              <a:gs pos="90000">
                <a:srgbClr val="121619">
                  <a:alpha val="0"/>
                </a:srgbClr>
              </a:gs>
              <a:gs pos="100000">
                <a:schemeClr val="bg1">
                  <a:alpha val="0"/>
                </a:schemeClr>
              </a:gs>
              <a:gs pos="45000">
                <a:srgbClr val="121619"/>
              </a:gs>
              <a:gs pos="5000">
                <a:srgbClr val="121619"/>
              </a:gs>
              <a:gs pos="100000">
                <a:srgbClr val="121619">
                  <a:alpha val="0"/>
                </a:srgbClr>
              </a:gs>
              <a:gs pos="100000">
                <a:srgbClr val="F8F9FA">
                  <a:alpha val="0"/>
                </a:srgbClr>
              </a:gs>
            </a:gsLst>
            <a:lin ang="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FBA9ED53-4118-CB47-58CC-2204F75B494E}"/>
              </a:ext>
            </a:extLst>
          </p:cNvPr>
          <p:cNvSpPr>
            <a:spLocks noGrp="1"/>
          </p:cNvSpPr>
          <p:nvPr>
            <p:ph type="ctrTitle"/>
          </p:nvPr>
        </p:nvSpPr>
        <p:spPr>
          <a:xfrm>
            <a:off x="889821" y="2718143"/>
            <a:ext cx="4932246" cy="1423549"/>
          </a:xfrm>
        </p:spPr>
        <p:txBody>
          <a:bodyPr>
            <a:normAutofit/>
          </a:bodyPr>
          <a:lstStyle/>
          <a:p>
            <a:pPr algn="l"/>
            <a:r>
              <a:rPr lang="en-IN" b="1" dirty="0">
                <a:solidFill>
                  <a:schemeClr val="bg1"/>
                </a:solidFill>
              </a:rPr>
              <a:t>Predictive Analysis (Classification)</a:t>
            </a:r>
          </a:p>
        </p:txBody>
      </p:sp>
      <p:sp>
        <p:nvSpPr>
          <p:cNvPr id="12" name="TextBox 11">
            <a:extLst>
              <a:ext uri="{FF2B5EF4-FFF2-40B4-BE49-F238E27FC236}">
                <a16:creationId xmlns:a16="http://schemas.microsoft.com/office/drawing/2014/main" id="{CF2D1C39-7AF6-2267-A603-6DD4A11F2DB8}"/>
              </a:ext>
            </a:extLst>
          </p:cNvPr>
          <p:cNvSpPr txBox="1"/>
          <p:nvPr/>
        </p:nvSpPr>
        <p:spPr>
          <a:xfrm>
            <a:off x="889820" y="2348811"/>
            <a:ext cx="2514600" cy="369332"/>
          </a:xfrm>
          <a:prstGeom prst="rect">
            <a:avLst/>
          </a:prstGeom>
          <a:noFill/>
        </p:spPr>
        <p:txBody>
          <a:bodyPr wrap="square" lIns="91440" tIns="45720" rIns="91440" bIns="45720" rtlCol="0" anchor="t">
            <a:spAutoFit/>
          </a:bodyPr>
          <a:lstStyle/>
          <a:p>
            <a:r>
              <a:rPr lang="en-US" dirty="0">
                <a:solidFill>
                  <a:schemeClr val="bg2"/>
                </a:solidFill>
                <a:latin typeface="Abadi" panose="020B0604020104020204" pitchFamily="34" charset="0"/>
                <a:ea typeface="SF Pro" pitchFamily="2" charset="0"/>
                <a:cs typeface="SF Pro" pitchFamily="2" charset="0"/>
              </a:rPr>
              <a:t>Section 5</a:t>
            </a:r>
          </a:p>
        </p:txBody>
      </p:sp>
    </p:spTree>
    <p:extLst>
      <p:ext uri="{BB962C8B-B14F-4D97-AF65-F5344CB8AC3E}">
        <p14:creationId xmlns:p14="http://schemas.microsoft.com/office/powerpoint/2010/main" val="1844627510"/>
      </p:ext>
    </p:extLst>
  </p:cSld>
  <p:clrMapOvr>
    <a:masterClrMapping/>
  </p:clrMapOvr>
  <p:transition spd="slow">
    <p:push dir="u"/>
  </p:transition>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2550BE34-C2B8-49B8-8519-67A8CAD51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Rectangle 15">
            <a:extLst>
              <a:ext uri="{FF2B5EF4-FFF2-40B4-BE49-F238E27FC236}">
                <a16:creationId xmlns:a16="http://schemas.microsoft.com/office/drawing/2014/main" id="{A7457DD9-5A45-400A-AB4B-4B4EDECA25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365125"/>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Title 1">
            <a:extLst>
              <a:ext uri="{FF2B5EF4-FFF2-40B4-BE49-F238E27FC236}">
                <a16:creationId xmlns:a16="http://schemas.microsoft.com/office/drawing/2014/main" id="{B68D8986-45AC-4FB5-96E8-C45F9603EB5E}"/>
              </a:ext>
            </a:extLst>
          </p:cNvPr>
          <p:cNvSpPr txBox="1">
            <a:spLocks/>
          </p:cNvSpPr>
          <p:nvPr/>
        </p:nvSpPr>
        <p:spPr>
          <a:xfrm>
            <a:off x="1046746" y="586822"/>
            <a:ext cx="3560252" cy="16459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pPr>
              <a:spcAft>
                <a:spcPts val="600"/>
              </a:spcAft>
            </a:pPr>
            <a:r>
              <a:rPr lang="en-US" sz="3700" kern="1200" dirty="0">
                <a:solidFill>
                  <a:srgbClr val="0B49CB"/>
                </a:solidFill>
                <a:latin typeface="Abadi" panose="020B0604020104020204" pitchFamily="34" charset="0"/>
                <a:ea typeface="+mj-ea"/>
                <a:cs typeface="+mj-cs"/>
              </a:rPr>
              <a:t>Classification Accuracy</a:t>
            </a:r>
          </a:p>
        </p:txBody>
      </p:sp>
      <p:sp>
        <p:nvSpPr>
          <p:cNvPr id="18" name="Rectangle 17">
            <a:extLst>
              <a:ext uri="{FF2B5EF4-FFF2-40B4-BE49-F238E27FC236}">
                <a16:creationId xmlns:a16="http://schemas.microsoft.com/office/drawing/2014/main" id="{441CF7D6-A660-431A-B0BB-140A0D5556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105773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20" name="Rectangle 19">
            <a:extLst>
              <a:ext uri="{FF2B5EF4-FFF2-40B4-BE49-F238E27FC236}">
                <a16:creationId xmlns:a16="http://schemas.microsoft.com/office/drawing/2014/main" id="{0570A85B-3810-4F95-97B0-CBF4CCDB3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3541" y="1400638"/>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type="body" sz="half" idx="4294967295"/>
          </p:nvPr>
        </p:nvSpPr>
        <p:spPr>
          <a:xfrm>
            <a:off x="5351164" y="586822"/>
            <a:ext cx="6002636" cy="1645920"/>
          </a:xfrm>
          <a:prstGeom prst="rect">
            <a:avLst/>
          </a:prstGeom>
        </p:spPr>
        <p:txBody>
          <a:bodyPr vert="horz" lIns="91440" tIns="45720" rIns="91440" bIns="45720" rtlCol="0" anchor="ctr">
            <a:normAutofit/>
          </a:bodyPr>
          <a:lstStyle/>
          <a:p>
            <a:pPr>
              <a:spcBef>
                <a:spcPts val="1400"/>
              </a:spcBef>
            </a:pPr>
            <a:r>
              <a:rPr lang="en-US" sz="2200" dirty="0">
                <a:latin typeface="Abadi" panose="020B0604020104020204" pitchFamily="34" charset="0"/>
              </a:rPr>
              <a:t>The decision tree classifier is the model with the highest classification accuracy</a:t>
            </a:r>
          </a:p>
          <a:p>
            <a:pPr>
              <a:spcBef>
                <a:spcPts val="1400"/>
              </a:spcBef>
            </a:pPr>
            <a:endParaRPr lang="en-US" sz="1800" dirty="0"/>
          </a:p>
        </p:txBody>
      </p:sp>
      <p:pic>
        <p:nvPicPr>
          <p:cNvPr id="3" name="Picture 2">
            <a:extLst>
              <a:ext uri="{FF2B5EF4-FFF2-40B4-BE49-F238E27FC236}">
                <a16:creationId xmlns:a16="http://schemas.microsoft.com/office/drawing/2014/main" id="{4125DC3F-06C6-4F66-ADB5-43E9E2294DD9}"/>
              </a:ext>
            </a:extLst>
          </p:cNvPr>
          <p:cNvPicPr>
            <a:picLocks noChangeAspect="1"/>
          </p:cNvPicPr>
          <p:nvPr/>
        </p:nvPicPr>
        <p:blipFill>
          <a:blip r:embed="rId2"/>
          <a:stretch>
            <a:fillRect/>
          </a:stretch>
        </p:blipFill>
        <p:spPr>
          <a:xfrm>
            <a:off x="557784" y="2815221"/>
            <a:ext cx="11164824" cy="3321534"/>
          </a:xfrm>
          <a:prstGeom prst="rect">
            <a:avLst/>
          </a:prstGeom>
        </p:spPr>
      </p:pic>
      <p:sp>
        <p:nvSpPr>
          <p:cNvPr id="4" name="Slide Number Placeholder 3">
            <a:extLst>
              <a:ext uri="{FF2B5EF4-FFF2-40B4-BE49-F238E27FC236}">
                <a16:creationId xmlns:a16="http://schemas.microsoft.com/office/drawing/2014/main" id="{336C985E-BCEF-DD49-BB47-C4649A79F0D8}"/>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5075537C-CA84-1446-933C-8E9D027F9201}" type="slidenum">
              <a:rPr lang="en-US" sz="1200">
                <a:solidFill>
                  <a:schemeClr val="tx1">
                    <a:lumMod val="50000"/>
                    <a:lumOff val="50000"/>
                  </a:schemeClr>
                </a:solidFill>
                <a:latin typeface="+mn-lt"/>
              </a:rPr>
              <a:pPr>
                <a:spcAft>
                  <a:spcPts val="600"/>
                </a:spcAft>
              </a:pPr>
              <a:t>43</a:t>
            </a:fld>
            <a:endParaRPr lang="en-US" sz="1200">
              <a:solidFill>
                <a:schemeClr val="tx1">
                  <a:lumMod val="50000"/>
                  <a:lumOff val="50000"/>
                </a:schemeClr>
              </a:solidFill>
              <a:latin typeface="+mn-lt"/>
            </a:endParaRPr>
          </a:p>
        </p:txBody>
      </p:sp>
    </p:spTree>
    <p:extLst>
      <p:ext uri="{BB962C8B-B14F-4D97-AF65-F5344CB8AC3E}">
        <p14:creationId xmlns:p14="http://schemas.microsoft.com/office/powerpoint/2010/main" val="245944607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36C985E-BCEF-DD49-BB47-C4649A79F0D8}"/>
              </a:ext>
            </a:extLst>
          </p:cNvPr>
          <p:cNvSpPr>
            <a:spLocks noGrp="1"/>
          </p:cNvSpPr>
          <p:nvPr>
            <p:ph type="sldNum" sz="quarter" idx="12"/>
          </p:nvPr>
        </p:nvSpPr>
        <p:spPr/>
        <p:txBody>
          <a:bodyPr/>
          <a:lstStyle/>
          <a:p>
            <a:fld id="{5075537C-CA84-1446-933C-8E9D027F9201}" type="slidenum">
              <a:rPr lang="en-US" smtClean="0"/>
              <a:t>44</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type="body" sz="half" idx="4294967295"/>
          </p:nvPr>
        </p:nvSpPr>
        <p:spPr>
          <a:xfrm>
            <a:off x="770011" y="2057400"/>
            <a:ext cx="5791563" cy="3811588"/>
          </a:xfrm>
          <a:prstGeom prst="rect">
            <a:avLst/>
          </a:prstGeom>
        </p:spPr>
        <p:txBody>
          <a:bodyPr>
            <a:normAutofit/>
          </a:bodyPr>
          <a:lstStyle/>
          <a:p>
            <a:pPr>
              <a:lnSpc>
                <a:spcPct val="100000"/>
              </a:lnSpc>
              <a:spcBef>
                <a:spcPts val="1400"/>
              </a:spcBef>
            </a:pPr>
            <a:r>
              <a:rPr lang="en-US" sz="2200" dirty="0">
                <a:solidFill>
                  <a:schemeClr val="accent3">
                    <a:lumMod val="25000"/>
                  </a:schemeClr>
                </a:solidFill>
                <a:latin typeface="Abadi" panose="020B0604020104020204" pitchFamily="34" charset="0"/>
              </a:rPr>
              <a:t>The confusion matrix for the decision tree classifier shows that the classifier can distinguish between the different classes. The major problem is the false positives .i.e., unsuccessful landing marked as successful landing by the classifier.</a:t>
            </a:r>
          </a:p>
        </p:txBody>
      </p:sp>
      <p:sp>
        <p:nvSpPr>
          <p:cNvPr id="9" name="Title 1">
            <a:extLst>
              <a:ext uri="{FF2B5EF4-FFF2-40B4-BE49-F238E27FC236}">
                <a16:creationId xmlns:a16="http://schemas.microsoft.com/office/drawing/2014/main" id="{533106AC-60D7-46AE-8E64-7B84ABDBD099}"/>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Confusion Matrix</a:t>
            </a:r>
            <a:endParaRPr lang="en-US" dirty="0">
              <a:solidFill>
                <a:srgbClr val="0B49CB"/>
              </a:solidFill>
            </a:endParaRPr>
          </a:p>
        </p:txBody>
      </p:sp>
      <p:pic>
        <p:nvPicPr>
          <p:cNvPr id="3" name="Picture 2">
            <a:extLst>
              <a:ext uri="{FF2B5EF4-FFF2-40B4-BE49-F238E27FC236}">
                <a16:creationId xmlns:a16="http://schemas.microsoft.com/office/drawing/2014/main" id="{D67EECC3-6329-4484-B1EE-3EBEB590740D}"/>
              </a:ext>
            </a:extLst>
          </p:cNvPr>
          <p:cNvPicPr>
            <a:picLocks noChangeAspect="1"/>
          </p:cNvPicPr>
          <p:nvPr/>
        </p:nvPicPr>
        <p:blipFill>
          <a:blip r:embed="rId3"/>
          <a:stretch>
            <a:fillRect/>
          </a:stretch>
        </p:blipFill>
        <p:spPr>
          <a:xfrm>
            <a:off x="6561574" y="1880339"/>
            <a:ext cx="4281910" cy="3097321"/>
          </a:xfrm>
          <a:prstGeom prst="rect">
            <a:avLst/>
          </a:prstGeom>
        </p:spPr>
      </p:pic>
    </p:spTree>
    <p:extLst>
      <p:ext uri="{BB962C8B-B14F-4D97-AF65-F5344CB8AC3E}">
        <p14:creationId xmlns:p14="http://schemas.microsoft.com/office/powerpoint/2010/main" val="364503423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DA56319-AADE-D741-AA33-1311B7CA8C0C}"/>
              </a:ext>
            </a:extLst>
          </p:cNvPr>
          <p:cNvSpPr>
            <a:spLocks noGrp="1"/>
          </p:cNvSpPr>
          <p:nvPr>
            <p:ph type="sldNum" sz="quarter" idx="12"/>
          </p:nvPr>
        </p:nvSpPr>
        <p:spPr/>
        <p:txBody>
          <a:bodyPr/>
          <a:lstStyle/>
          <a:p>
            <a:fld id="{5075537C-CA84-1446-933C-8E9D027F9201}" type="slidenum">
              <a:rPr lang="en-US" smtClean="0"/>
              <a:t>45</a:t>
            </a:fld>
            <a:endParaRPr lang="en-US"/>
          </a:p>
        </p:txBody>
      </p:sp>
      <p:sp>
        <p:nvSpPr>
          <p:cNvPr id="5" name="Content Placeholder 3">
            <a:extLst>
              <a:ext uri="{FF2B5EF4-FFF2-40B4-BE49-F238E27FC236}">
                <a16:creationId xmlns:a16="http://schemas.microsoft.com/office/drawing/2014/main" id="{28684E62-A9F8-4E7A-AB01-78893062A1B4}"/>
              </a:ext>
            </a:extLst>
          </p:cNvPr>
          <p:cNvSpPr>
            <a:spLocks noGrp="1"/>
          </p:cNvSpPr>
          <p:nvPr>
            <p:ph sz="half" idx="4294967295"/>
          </p:nvPr>
        </p:nvSpPr>
        <p:spPr>
          <a:xfrm>
            <a:off x="770011" y="1507254"/>
            <a:ext cx="10515600" cy="4518320"/>
          </a:xfrm>
          <a:prstGeom prst="rect">
            <a:avLst/>
          </a:prstGeom>
        </p:spPr>
        <p:txBody>
          <a:bodyPr>
            <a:normAutofit/>
          </a:bodyPr>
          <a:lstStyle/>
          <a:p>
            <a:pPr marL="0" indent="0">
              <a:lnSpc>
                <a:spcPct val="100000"/>
              </a:lnSpc>
              <a:spcBef>
                <a:spcPts val="1400"/>
              </a:spcBef>
              <a:buNone/>
            </a:pPr>
            <a:r>
              <a:rPr lang="en-US" sz="2200" dirty="0">
                <a:solidFill>
                  <a:schemeClr val="accent3">
                    <a:lumMod val="25000"/>
                  </a:schemeClr>
                </a:solidFill>
                <a:latin typeface="Abadi" panose="020B0604020104020204" pitchFamily="34" charset="0"/>
              </a:rPr>
              <a:t>We can conclude that:</a:t>
            </a:r>
          </a:p>
          <a:p>
            <a:pPr>
              <a:lnSpc>
                <a:spcPct val="100000"/>
              </a:lnSpc>
              <a:spcBef>
                <a:spcPts val="1400"/>
              </a:spcBef>
            </a:pPr>
            <a:r>
              <a:rPr lang="en-US" sz="2200" dirty="0">
                <a:solidFill>
                  <a:schemeClr val="accent3">
                    <a:lumMod val="25000"/>
                  </a:schemeClr>
                </a:solidFill>
                <a:latin typeface="Abadi" panose="020B0604020104020204" pitchFamily="34" charset="0"/>
              </a:rPr>
              <a:t>The larger the flight amount at a launch site, the greater the success rate at a launch site.</a:t>
            </a:r>
          </a:p>
          <a:p>
            <a:pPr>
              <a:lnSpc>
                <a:spcPct val="100000"/>
              </a:lnSpc>
              <a:spcBef>
                <a:spcPts val="1400"/>
              </a:spcBef>
            </a:pPr>
            <a:r>
              <a:rPr lang="en-US" sz="2200" dirty="0">
                <a:latin typeface="Abadi" panose="020B0604020104020204" pitchFamily="34" charset="0"/>
              </a:rPr>
              <a:t>Launch success rate started to increase in 2013 till 2020.</a:t>
            </a:r>
          </a:p>
          <a:p>
            <a:pPr>
              <a:lnSpc>
                <a:spcPct val="100000"/>
              </a:lnSpc>
              <a:spcBef>
                <a:spcPts val="1400"/>
              </a:spcBef>
            </a:pPr>
            <a:r>
              <a:rPr lang="en-US" sz="2200" dirty="0">
                <a:solidFill>
                  <a:schemeClr val="accent3">
                    <a:lumMod val="25000"/>
                  </a:schemeClr>
                </a:solidFill>
                <a:latin typeface="Abadi" panose="020B0604020104020204" pitchFamily="34" charset="0"/>
              </a:rPr>
              <a:t>Orbits </a:t>
            </a:r>
            <a:r>
              <a:rPr lang="en-US" sz="2200" dirty="0">
                <a:latin typeface="Abadi" panose="020B0604020104020204" pitchFamily="34" charset="0"/>
              </a:rPr>
              <a:t>ES-L1, GEO, HEO, SSO, VLEO had the most success rate.</a:t>
            </a:r>
            <a:endParaRPr lang="en-US" sz="2200" dirty="0">
              <a:solidFill>
                <a:schemeClr val="accent3">
                  <a:lumMod val="25000"/>
                </a:schemeClr>
              </a:solidFill>
              <a:latin typeface="Abadi" panose="020B0604020104020204" pitchFamily="34" charset="0"/>
            </a:endParaRPr>
          </a:p>
          <a:p>
            <a:pPr>
              <a:lnSpc>
                <a:spcPct val="100000"/>
              </a:lnSpc>
              <a:spcBef>
                <a:spcPts val="1400"/>
              </a:spcBef>
            </a:pPr>
            <a:r>
              <a:rPr lang="en-US" sz="2200" dirty="0">
                <a:solidFill>
                  <a:schemeClr val="accent3">
                    <a:lumMod val="25000"/>
                  </a:schemeClr>
                </a:solidFill>
                <a:latin typeface="Abadi" panose="020B0604020104020204" pitchFamily="34" charset="0"/>
              </a:rPr>
              <a:t>KSC LC-39A had the most successful launches of any sites.</a:t>
            </a:r>
          </a:p>
          <a:p>
            <a:pPr>
              <a:lnSpc>
                <a:spcPct val="100000"/>
              </a:lnSpc>
              <a:spcBef>
                <a:spcPts val="1400"/>
              </a:spcBef>
            </a:pPr>
            <a:r>
              <a:rPr lang="en-US" sz="2200" dirty="0">
                <a:solidFill>
                  <a:schemeClr val="accent3">
                    <a:lumMod val="25000"/>
                  </a:schemeClr>
                </a:solidFill>
                <a:latin typeface="Abadi" panose="020B0604020104020204" pitchFamily="34" charset="0"/>
              </a:rPr>
              <a:t>The Decision tree classifier is the best machine learning algorithm for this task.</a:t>
            </a:r>
          </a:p>
          <a:p>
            <a:pPr>
              <a:lnSpc>
                <a:spcPct val="100000"/>
              </a:lnSpc>
              <a:spcBef>
                <a:spcPts val="1400"/>
              </a:spcBef>
            </a:pPr>
            <a:endParaRPr lang="en-US" sz="2200" dirty="0">
              <a:solidFill>
                <a:schemeClr val="accent3">
                  <a:lumMod val="25000"/>
                </a:schemeClr>
              </a:solidFill>
              <a:latin typeface="Abadi" panose="020B0604020104020204" pitchFamily="34" charset="0"/>
            </a:endParaRPr>
          </a:p>
        </p:txBody>
      </p:sp>
      <p:sp>
        <p:nvSpPr>
          <p:cNvPr id="9" name="Title 1">
            <a:extLst>
              <a:ext uri="{FF2B5EF4-FFF2-40B4-BE49-F238E27FC236}">
                <a16:creationId xmlns:a16="http://schemas.microsoft.com/office/drawing/2014/main" id="{FB98079A-48C6-4E10-8AB1-B940BD1E42DF}"/>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Conclusions</a:t>
            </a:r>
            <a:endParaRPr lang="en-US">
              <a:solidFill>
                <a:srgbClr val="0B49CB"/>
              </a:solidFill>
            </a:endParaRPr>
          </a:p>
        </p:txBody>
      </p:sp>
    </p:spTree>
    <p:extLst>
      <p:ext uri="{BB962C8B-B14F-4D97-AF65-F5344CB8AC3E}">
        <p14:creationId xmlns:p14="http://schemas.microsoft.com/office/powerpoint/2010/main" val="163012361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A2C882-39CF-051D-F3FE-58FB37488606}"/>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80CFC38F-E8C3-D06D-66C9-C2038E563F0A}"/>
              </a:ext>
            </a:extLst>
          </p:cNvPr>
          <p:cNvPicPr>
            <a:picLocks noChangeAspect="1"/>
          </p:cNvPicPr>
          <p:nvPr/>
        </p:nvPicPr>
        <p:blipFill>
          <a:blip r:embed="rId2"/>
          <a:srcRect/>
          <a:stretch/>
        </p:blipFill>
        <p:spPr>
          <a:xfrm>
            <a:off x="1581874" y="0"/>
            <a:ext cx="13243772" cy="7454096"/>
          </a:xfrm>
          <a:prstGeom prst="rect">
            <a:avLst/>
          </a:prstGeom>
        </p:spPr>
      </p:pic>
      <p:sp>
        <p:nvSpPr>
          <p:cNvPr id="5" name="Rectangle 4">
            <a:extLst>
              <a:ext uri="{FF2B5EF4-FFF2-40B4-BE49-F238E27FC236}">
                <a16:creationId xmlns:a16="http://schemas.microsoft.com/office/drawing/2014/main" id="{E624269A-CE89-A452-34DA-EC55F748F68C}"/>
              </a:ext>
            </a:extLst>
          </p:cNvPr>
          <p:cNvSpPr/>
          <p:nvPr/>
        </p:nvSpPr>
        <p:spPr>
          <a:xfrm>
            <a:off x="0" y="0"/>
            <a:ext cx="12060820" cy="6858000"/>
          </a:xfrm>
          <a:prstGeom prst="rect">
            <a:avLst/>
          </a:prstGeom>
          <a:gradFill flip="none" rotWithShape="1">
            <a:gsLst>
              <a:gs pos="100000">
                <a:srgbClr val="F2F4F8">
                  <a:alpha val="0"/>
                </a:srgbClr>
              </a:gs>
              <a:gs pos="100000">
                <a:schemeClr val="bg1">
                  <a:alpha val="0"/>
                </a:schemeClr>
              </a:gs>
              <a:gs pos="49000">
                <a:srgbClr val="121619">
                  <a:alpha val="79000"/>
                </a:srgbClr>
              </a:gs>
              <a:gs pos="100000">
                <a:srgbClr val="F2F4F8">
                  <a:alpha val="0"/>
                </a:srgbClr>
              </a:gs>
              <a:gs pos="91000">
                <a:srgbClr val="121619">
                  <a:alpha val="0"/>
                </a:srgbClr>
              </a:gs>
              <a:gs pos="12000">
                <a:srgbClr val="121619"/>
              </a:gs>
              <a:gs pos="100000">
                <a:srgbClr val="121619">
                  <a:alpha val="0"/>
                </a:srgbClr>
              </a:gs>
              <a:gs pos="100000">
                <a:srgbClr val="F8F9FA">
                  <a:alpha val="0"/>
                </a:srgbClr>
              </a:gs>
            </a:gsLst>
            <a:lin ang="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itle 1">
            <a:extLst>
              <a:ext uri="{FF2B5EF4-FFF2-40B4-BE49-F238E27FC236}">
                <a16:creationId xmlns:a16="http://schemas.microsoft.com/office/drawing/2014/main" id="{5F9ACE13-D596-1866-D821-FED3A4A68564}"/>
              </a:ext>
            </a:extLst>
          </p:cNvPr>
          <p:cNvSpPr>
            <a:spLocks noGrp="1"/>
          </p:cNvSpPr>
          <p:nvPr>
            <p:ph type="ctrTitle"/>
          </p:nvPr>
        </p:nvSpPr>
        <p:spPr>
          <a:xfrm>
            <a:off x="889820" y="3073113"/>
            <a:ext cx="4098869" cy="711774"/>
          </a:xfrm>
        </p:spPr>
        <p:txBody>
          <a:bodyPr>
            <a:normAutofit fontScale="90000"/>
          </a:bodyPr>
          <a:lstStyle/>
          <a:p>
            <a:pPr algn="l"/>
            <a:r>
              <a:rPr lang="en-IN" b="1" dirty="0">
                <a:solidFill>
                  <a:schemeClr val="bg1"/>
                </a:solidFill>
              </a:rPr>
              <a:t>Thank You!</a:t>
            </a:r>
          </a:p>
        </p:txBody>
      </p:sp>
    </p:spTree>
    <p:extLst>
      <p:ext uri="{BB962C8B-B14F-4D97-AF65-F5344CB8AC3E}">
        <p14:creationId xmlns:p14="http://schemas.microsoft.com/office/powerpoint/2010/main" val="1997507616"/>
      </p:ext>
    </p:extLst>
  </p:cSld>
  <p:clrMapOvr>
    <a:masterClrMapping/>
  </p:clrMapOvr>
  <p:transition spd="slow">
    <p:push dir="u"/>
  </p:transition>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ECD86F56755A646AC8AFCBCBD967F21" ma:contentTypeVersion="12" ma:contentTypeDescription="Create a new document." ma:contentTypeScope="" ma:versionID="5271f8e20090c87afed7729ac71f61b2">
  <xsd:schema xmlns:xsd="http://www.w3.org/2001/XMLSchema" xmlns:xs="http://www.w3.org/2001/XMLSchema" xmlns:p="http://schemas.microsoft.com/office/2006/metadata/properties" xmlns:ns2="155be751-a274-42e8-93fb-f39d3b9bccc8" xmlns:ns3="f80a141d-92ca-4d3d-9308-f7e7b1d44ce8" targetNamespace="http://schemas.microsoft.com/office/2006/metadata/properties" ma:root="true" ma:fieldsID="cf12c133eb44377ebd94fdb7db4757b0" ns2:_="" ns3:_="">
    <xsd:import namespace="155be751-a274-42e8-93fb-f39d3b9bccc8"/>
    <xsd:import namespace="f80a141d-92ca-4d3d-9308-f7e7b1d44ce8"/>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5be751-a274-42e8-93fb-f39d3b9bccc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80a141d-92ca-4d3d-9308-f7e7b1d44ce8"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4DA07C5-A406-4A0D-B3E6-3856C94AC7F3}">
  <ds:schemaRef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f80a141d-92ca-4d3d-9308-f7e7b1d44ce8"/>
    <ds:schemaRef ds:uri="http://purl.org/dc/dcmitype/"/>
    <ds:schemaRef ds:uri="http://www.w3.org/XML/1998/namespace"/>
    <ds:schemaRef ds:uri="155be751-a274-42e8-93fb-f39d3b9bccc8"/>
    <ds:schemaRef ds:uri="http://schemas.microsoft.com/office/2006/metadata/properties"/>
    <ds:schemaRef ds:uri="http://purl.org/dc/terms/"/>
  </ds:schemaRefs>
</ds:datastoreItem>
</file>

<file path=customXml/itemProps2.xml><?xml version="1.0" encoding="utf-8"?>
<ds:datastoreItem xmlns:ds="http://schemas.openxmlformats.org/officeDocument/2006/customXml" ds:itemID="{7EFDA260-DDA0-422C-B7AE-778F653FBB36}">
  <ds:schemaRefs>
    <ds:schemaRef ds:uri="http://schemas.microsoft.com/sharepoint/v3/contenttype/forms"/>
  </ds:schemaRefs>
</ds:datastoreItem>
</file>

<file path=customXml/itemProps3.xml><?xml version="1.0" encoding="utf-8"?>
<ds:datastoreItem xmlns:ds="http://schemas.openxmlformats.org/officeDocument/2006/customXml" ds:itemID="{FD840426-F08D-42AC-9846-A20E4AB85A26}">
  <ds:schemaRefs>
    <ds:schemaRef ds:uri="155be751-a274-42e8-93fb-f39d3b9bccc8"/>
    <ds:schemaRef ds:uri="f80a141d-92ca-4d3d-9308-f7e7b1d44ce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1416</TotalTime>
  <Words>1834</Words>
  <Application>Microsoft Office PowerPoint</Application>
  <PresentationFormat>Widescreen</PresentationFormat>
  <Paragraphs>216</Paragraphs>
  <Slides>46</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46</vt:i4>
      </vt:variant>
    </vt:vector>
  </HeadingPairs>
  <TitlesOfParts>
    <vt:vector size="51" baseType="lpstr">
      <vt:lpstr>Abadi</vt:lpstr>
      <vt:lpstr>Arial</vt:lpstr>
      <vt:lpstr>Calibri</vt:lpstr>
      <vt:lpstr>IBM Plex Mono SemiBold</vt:lpstr>
      <vt:lpstr>Custom Design</vt:lpstr>
      <vt:lpstr>Space X  Capstone Project</vt:lpstr>
      <vt:lpstr>PowerPoint Presentation</vt:lpstr>
      <vt:lpstr>PowerPoint Presentation</vt:lpstr>
      <vt:lpstr>PowerPoint Presentation</vt:lpstr>
      <vt:lpstr>Methodology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Insights drawn from EDA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Launch Sites Proximities Analysis </vt:lpstr>
      <vt:lpstr>PowerPoint Presentation</vt:lpstr>
      <vt:lpstr>PowerPoint Presentation</vt:lpstr>
      <vt:lpstr>PowerPoint Presentation</vt:lpstr>
      <vt:lpstr>Build a Dashboard  with Plotly Dash</vt:lpstr>
      <vt:lpstr>PowerPoint Presentation</vt:lpstr>
      <vt:lpstr>PowerPoint Presentation</vt:lpstr>
      <vt:lpstr>PowerPoint Presentation</vt:lpstr>
      <vt:lpstr>Predictive Analysis (Classification)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&lt;Title&gt;</dc:title>
  <dc:creator>YAN Luo</dc:creator>
  <cp:lastModifiedBy>Prathyush Pavithran</cp:lastModifiedBy>
  <cp:revision>201</cp:revision>
  <dcterms:created xsi:type="dcterms:W3CDTF">2021-04-29T18:58:34Z</dcterms:created>
  <dcterms:modified xsi:type="dcterms:W3CDTF">2026-01-06T12:28:07Z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0x010100EECD86F56755A646AC8AFCBCBD967F21</vt:lpwstr>
  </property>
</Properties>
</file>